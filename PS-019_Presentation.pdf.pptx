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embeddedFontLst>
    <p:embeddedFont>
      <p:font typeface="Carlito" charset="1" panose="020F0502020204030204"/>
      <p:regular r:id="rId29"/>
    </p:embeddedFont>
    <p:embeddedFont>
      <p:font typeface="Carlito Bold" charset="1" panose="020F0502020204030204"/>
      <p:regular r:id="rId30"/>
    </p:embeddedFont>
    <p:embeddedFont>
      <p:font typeface="Carlito Italics" charset="1" panose="020F0502020204030204"/>
      <p:regular r:id="rId31"/>
    </p:embeddedFont>
    <p:embeddedFont>
      <p:font typeface="Montserrat" charset="1" panose="00000500000000000000"/>
      <p:regular r:id="rId32"/>
    </p:embeddedFont>
    <p:embeddedFont>
      <p:font typeface="IBM Plex Sans Condensed" charset="1" panose="020B0506050203000203"/>
      <p:regular r:id="rId33"/>
    </p:embeddedFont>
    <p:embeddedFont>
      <p:font typeface="Open Sans Bold" charset="1" panose="020B0806030504020204"/>
      <p:regular r:id="rId34"/>
    </p:embeddedFont>
    <p:embeddedFont>
      <p:font typeface="Montserrat Bold" charset="1" panose="000006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14" Target="../media/image33.png" Type="http://schemas.openxmlformats.org/officeDocument/2006/relationships/image"/><Relationship Id="rId15" Target="../media/image34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45.png" Type="http://schemas.openxmlformats.org/officeDocument/2006/relationships/image"/><Relationship Id="rId13" Target="../media/image14.png" Type="http://schemas.openxmlformats.org/officeDocument/2006/relationships/image"/><Relationship Id="rId14" Target="../media/image46.png" Type="http://schemas.openxmlformats.org/officeDocument/2006/relationships/image"/><Relationship Id="rId15" Target="../media/image47.svg" Type="http://schemas.openxmlformats.org/officeDocument/2006/relationships/imag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svg" Type="http://schemas.openxmlformats.org/officeDocument/2006/relationships/image"/><Relationship Id="rId12" Target="../media/image58.png" Type="http://schemas.openxmlformats.org/officeDocument/2006/relationships/image"/><Relationship Id="rId13" Target="../media/image59.svg" Type="http://schemas.openxmlformats.org/officeDocument/2006/relationships/image"/><Relationship Id="rId14" Target="../media/image60.png" Type="http://schemas.openxmlformats.org/officeDocument/2006/relationships/image"/><Relationship Id="rId15" Target="../media/image61.png" Type="http://schemas.openxmlformats.org/officeDocument/2006/relationships/image"/><Relationship Id="rId16" Target="../media/image62.png" Type="http://schemas.openxmlformats.org/officeDocument/2006/relationships/image"/><Relationship Id="rId17" Target="../media/image63.png" Type="http://schemas.openxmlformats.org/officeDocument/2006/relationships/image"/><Relationship Id="rId18" Target="../media/image64.png" Type="http://schemas.openxmlformats.org/officeDocument/2006/relationships/image"/><Relationship Id="rId19" Target="../media/image65.png" Type="http://schemas.openxmlformats.org/officeDocument/2006/relationships/image"/><Relationship Id="rId2" Target="../media/image48.png" Type="http://schemas.openxmlformats.org/officeDocument/2006/relationships/image"/><Relationship Id="rId20" Target="../media/image66.png" Type="http://schemas.openxmlformats.org/officeDocument/2006/relationships/image"/><Relationship Id="rId21" Target="../media/image67.svg" Type="http://schemas.openxmlformats.org/officeDocument/2006/relationships/image"/><Relationship Id="rId3" Target="../media/image49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54.png" Type="http://schemas.openxmlformats.org/officeDocument/2006/relationships/image"/><Relationship Id="rId9" Target="../media/image5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69.svg" Type="http://schemas.openxmlformats.org/officeDocument/2006/relationships/image"/><Relationship Id="rId4" Target="../media/image70.png" Type="http://schemas.openxmlformats.org/officeDocument/2006/relationships/image"/><Relationship Id="rId5" Target="../media/image71.svg" Type="http://schemas.openxmlformats.org/officeDocument/2006/relationships/image"/><Relationship Id="rId6" Target="../media/image72.png" Type="http://schemas.openxmlformats.org/officeDocument/2006/relationships/image"/><Relationship Id="rId7" Target="../media/image7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png" Type="http://schemas.openxmlformats.org/officeDocument/2006/relationships/image"/><Relationship Id="rId11" Target="../media/image83.svg" Type="http://schemas.openxmlformats.org/officeDocument/2006/relationships/image"/><Relationship Id="rId12" Target="../media/image84.png" Type="http://schemas.openxmlformats.org/officeDocument/2006/relationships/image"/><Relationship Id="rId13" Target="../media/image85.png" Type="http://schemas.openxmlformats.org/officeDocument/2006/relationships/image"/><Relationship Id="rId14" Target="../media/image86.png" Type="http://schemas.openxmlformats.org/officeDocument/2006/relationships/image"/><Relationship Id="rId15" Target="../media/image87.png" Type="http://schemas.openxmlformats.org/officeDocument/2006/relationships/image"/><Relationship Id="rId16" Target="../media/image88.png" Type="http://schemas.openxmlformats.org/officeDocument/2006/relationships/image"/><Relationship Id="rId17" Target="../media/image89.png" Type="http://schemas.openxmlformats.org/officeDocument/2006/relationships/image"/><Relationship Id="rId18" Target="../media/image90.svg" Type="http://schemas.openxmlformats.org/officeDocument/2006/relationships/image"/><Relationship Id="rId2" Target="../media/image74.png" Type="http://schemas.openxmlformats.org/officeDocument/2006/relationships/image"/><Relationship Id="rId3" Target="../media/image75.svg" Type="http://schemas.openxmlformats.org/officeDocument/2006/relationships/image"/><Relationship Id="rId4" Target="../media/image76.png" Type="http://schemas.openxmlformats.org/officeDocument/2006/relationships/image"/><Relationship Id="rId5" Target="../media/image77.svg" Type="http://schemas.openxmlformats.org/officeDocument/2006/relationships/image"/><Relationship Id="rId6" Target="../media/image78.png" Type="http://schemas.openxmlformats.org/officeDocument/2006/relationships/image"/><Relationship Id="rId7" Target="../media/image79.svg" Type="http://schemas.openxmlformats.org/officeDocument/2006/relationships/image"/><Relationship Id="rId8" Target="../media/image80.png" Type="http://schemas.openxmlformats.org/officeDocument/2006/relationships/image"/><Relationship Id="rId9" Target="../media/image8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1.png" Type="http://schemas.openxmlformats.org/officeDocument/2006/relationships/image"/><Relationship Id="rId3" Target="../media/image9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3.png" Type="http://schemas.openxmlformats.org/officeDocument/2006/relationships/image"/><Relationship Id="rId3" Target="../media/image94.svg" Type="http://schemas.openxmlformats.org/officeDocument/2006/relationships/image"/><Relationship Id="rId4" Target="../media/image95.png" Type="http://schemas.openxmlformats.org/officeDocument/2006/relationships/image"/><Relationship Id="rId5" Target="../media/image96.svg" Type="http://schemas.openxmlformats.org/officeDocument/2006/relationships/image"/><Relationship Id="rId6" Target="../media/image97.png" Type="http://schemas.openxmlformats.org/officeDocument/2006/relationships/image"/><Relationship Id="rId7" Target="../media/image98.svg" Type="http://schemas.openxmlformats.org/officeDocument/2006/relationships/image"/><Relationship Id="rId8" Target="../media/image99.png" Type="http://schemas.openxmlformats.org/officeDocument/2006/relationships/image"/><Relationship Id="rId9" Target="../media/image10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1.png" Type="http://schemas.openxmlformats.org/officeDocument/2006/relationships/image"/><Relationship Id="rId3" Target="../media/image102.svg" Type="http://schemas.openxmlformats.org/officeDocument/2006/relationships/image"/><Relationship Id="rId4" Target="../media/image103.png" Type="http://schemas.openxmlformats.org/officeDocument/2006/relationships/image"/><Relationship Id="rId5" Target="../media/image104.svg" Type="http://schemas.openxmlformats.org/officeDocument/2006/relationships/image"/><Relationship Id="rId6" Target="../media/image105.png" Type="http://schemas.openxmlformats.org/officeDocument/2006/relationships/image"/><Relationship Id="rId7" Target="../media/image106.svg" Type="http://schemas.openxmlformats.org/officeDocument/2006/relationships/image"/><Relationship Id="rId8" Target="../media/image107.png" Type="http://schemas.openxmlformats.org/officeDocument/2006/relationships/image"/><Relationship Id="rId9" Target="../media/image10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7.png" Type="http://schemas.openxmlformats.org/officeDocument/2006/relationships/image"/><Relationship Id="rId11" Target="../media/image118.svg" Type="http://schemas.openxmlformats.org/officeDocument/2006/relationships/image"/><Relationship Id="rId12" Target="../media/image119.png" Type="http://schemas.openxmlformats.org/officeDocument/2006/relationships/image"/><Relationship Id="rId13" Target="../media/image120.png" Type="http://schemas.openxmlformats.org/officeDocument/2006/relationships/image"/><Relationship Id="rId14" Target="../media/image121.png" Type="http://schemas.openxmlformats.org/officeDocument/2006/relationships/image"/><Relationship Id="rId15" Target="../media/image122.png" Type="http://schemas.openxmlformats.org/officeDocument/2006/relationships/image"/><Relationship Id="rId16" Target="../media/image123.png" Type="http://schemas.openxmlformats.org/officeDocument/2006/relationships/image"/><Relationship Id="rId17" Target="../media/image124.svg" Type="http://schemas.openxmlformats.org/officeDocument/2006/relationships/image"/><Relationship Id="rId2" Target="../media/image109.png" Type="http://schemas.openxmlformats.org/officeDocument/2006/relationships/image"/><Relationship Id="rId3" Target="../media/image110.svg" Type="http://schemas.openxmlformats.org/officeDocument/2006/relationships/image"/><Relationship Id="rId4" Target="../media/image111.png" Type="http://schemas.openxmlformats.org/officeDocument/2006/relationships/image"/><Relationship Id="rId5" Target="../media/image112.svg" Type="http://schemas.openxmlformats.org/officeDocument/2006/relationships/image"/><Relationship Id="rId6" Target="../media/image113.png" Type="http://schemas.openxmlformats.org/officeDocument/2006/relationships/image"/><Relationship Id="rId7" Target="../media/image114.svg" Type="http://schemas.openxmlformats.org/officeDocument/2006/relationships/image"/><Relationship Id="rId8" Target="../media/image115.png" Type="http://schemas.openxmlformats.org/officeDocument/2006/relationships/image"/><Relationship Id="rId9" Target="../media/image11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5.png" Type="http://schemas.openxmlformats.org/officeDocument/2006/relationships/image"/><Relationship Id="rId3" Target="../media/image126.svg" Type="http://schemas.openxmlformats.org/officeDocument/2006/relationships/image"/><Relationship Id="rId4" Target="../media/image127.png" Type="http://schemas.openxmlformats.org/officeDocument/2006/relationships/image"/><Relationship Id="rId5" Target="../media/image128.svg" Type="http://schemas.openxmlformats.org/officeDocument/2006/relationships/image"/><Relationship Id="rId6" Target="../media/image129.png" Type="http://schemas.openxmlformats.org/officeDocument/2006/relationships/image"/><Relationship Id="rId7" Target="../media/image130.svg" Type="http://schemas.openxmlformats.org/officeDocument/2006/relationships/image"/><Relationship Id="rId8" Target="../media/image131.png" Type="http://schemas.openxmlformats.org/officeDocument/2006/relationships/image"/><Relationship Id="rId9" Target="../media/image13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3.png" Type="http://schemas.openxmlformats.org/officeDocument/2006/relationships/image"/><Relationship Id="rId3" Target="../media/image134.svg" Type="http://schemas.openxmlformats.org/officeDocument/2006/relationships/image"/><Relationship Id="rId4" Target="../media/image135.png" Type="http://schemas.openxmlformats.org/officeDocument/2006/relationships/image"/><Relationship Id="rId5" Target="../media/image136.svg" Type="http://schemas.openxmlformats.org/officeDocument/2006/relationships/image"/><Relationship Id="rId6" Target="../media/image137.png" Type="http://schemas.openxmlformats.org/officeDocument/2006/relationships/image"/><Relationship Id="rId7" Target="../media/image138.svg" Type="http://schemas.openxmlformats.org/officeDocument/2006/relationships/image"/><Relationship Id="rId8" Target="../media/image13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6.svg" Type="http://schemas.openxmlformats.org/officeDocument/2006/relationships/image"/><Relationship Id="rId2" Target="../media/image140.png" Type="http://schemas.openxmlformats.org/officeDocument/2006/relationships/image"/><Relationship Id="rId3" Target="../media/image141.svg" Type="http://schemas.openxmlformats.org/officeDocument/2006/relationships/image"/><Relationship Id="rId4" Target="../media/image142.png" Type="http://schemas.openxmlformats.org/officeDocument/2006/relationships/image"/><Relationship Id="rId5" Target="../media/image143.svg" Type="http://schemas.openxmlformats.org/officeDocument/2006/relationships/image"/><Relationship Id="rId6" Target="../media/image144.svg" Type="http://schemas.openxmlformats.org/officeDocument/2006/relationships/image"/><Relationship Id="rId7" Target="../media/image131.png" Type="http://schemas.openxmlformats.org/officeDocument/2006/relationships/image"/><Relationship Id="rId8" Target="../media/image132.svg" Type="http://schemas.openxmlformats.org/officeDocument/2006/relationships/image"/><Relationship Id="rId9" Target="../media/image14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3.png" Type="http://schemas.openxmlformats.org/officeDocument/2006/relationships/image"/><Relationship Id="rId11" Target="../media/image154.svg" Type="http://schemas.openxmlformats.org/officeDocument/2006/relationships/image"/><Relationship Id="rId12" Target="../media/image72.png" Type="http://schemas.openxmlformats.org/officeDocument/2006/relationships/image"/><Relationship Id="rId13" Target="../media/image139.png" Type="http://schemas.openxmlformats.org/officeDocument/2006/relationships/image"/><Relationship Id="rId14" Target="../media/image73.png" Type="http://schemas.openxmlformats.org/officeDocument/2006/relationships/image"/><Relationship Id="rId15" Target="../media/image155.png" Type="http://schemas.openxmlformats.org/officeDocument/2006/relationships/image"/><Relationship Id="rId16" Target="../media/image156.svg" Type="http://schemas.openxmlformats.org/officeDocument/2006/relationships/image"/><Relationship Id="rId17" Target="../media/image157.png" Type="http://schemas.openxmlformats.org/officeDocument/2006/relationships/image"/><Relationship Id="rId18" Target="../media/image158.svg" Type="http://schemas.openxmlformats.org/officeDocument/2006/relationships/image"/><Relationship Id="rId19" Target="../media/image159.png" Type="http://schemas.openxmlformats.org/officeDocument/2006/relationships/image"/><Relationship Id="rId2" Target="../media/image147.png" Type="http://schemas.openxmlformats.org/officeDocument/2006/relationships/image"/><Relationship Id="rId20" Target="../media/image160.svg" Type="http://schemas.openxmlformats.org/officeDocument/2006/relationships/image"/><Relationship Id="rId3" Target="../media/image148.svg" Type="http://schemas.openxmlformats.org/officeDocument/2006/relationships/image"/><Relationship Id="rId4" Target="../media/image131.png" Type="http://schemas.openxmlformats.org/officeDocument/2006/relationships/image"/><Relationship Id="rId5" Target="../media/image132.svg" Type="http://schemas.openxmlformats.org/officeDocument/2006/relationships/image"/><Relationship Id="rId6" Target="../media/image149.png" Type="http://schemas.openxmlformats.org/officeDocument/2006/relationships/image"/><Relationship Id="rId7" Target="../media/image150.svg" Type="http://schemas.openxmlformats.org/officeDocument/2006/relationships/image"/><Relationship Id="rId8" Target="../media/image151.png" Type="http://schemas.openxmlformats.org/officeDocument/2006/relationships/image"/><Relationship Id="rId9" Target="../media/image15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9.png" Type="http://schemas.openxmlformats.org/officeDocument/2006/relationships/image"/><Relationship Id="rId11" Target="../media/image170.svg" Type="http://schemas.openxmlformats.org/officeDocument/2006/relationships/image"/><Relationship Id="rId12" Target="../media/image171.png" Type="http://schemas.openxmlformats.org/officeDocument/2006/relationships/image"/><Relationship Id="rId13" Target="../media/image172.svg" Type="http://schemas.openxmlformats.org/officeDocument/2006/relationships/image"/><Relationship Id="rId2" Target="../media/image161.png" Type="http://schemas.openxmlformats.org/officeDocument/2006/relationships/image"/><Relationship Id="rId3" Target="../media/image162.svg" Type="http://schemas.openxmlformats.org/officeDocument/2006/relationships/image"/><Relationship Id="rId4" Target="../media/image163.png" Type="http://schemas.openxmlformats.org/officeDocument/2006/relationships/image"/><Relationship Id="rId5" Target="../media/image164.svg" Type="http://schemas.openxmlformats.org/officeDocument/2006/relationships/image"/><Relationship Id="rId6" Target="../media/image165.png" Type="http://schemas.openxmlformats.org/officeDocument/2006/relationships/image"/><Relationship Id="rId7" Target="../media/image166.svg" Type="http://schemas.openxmlformats.org/officeDocument/2006/relationships/image"/><Relationship Id="rId8" Target="../media/image167.png" Type="http://schemas.openxmlformats.org/officeDocument/2006/relationships/image"/><Relationship Id="rId9" Target="../media/image16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1.png" Type="http://schemas.openxmlformats.org/officeDocument/2006/relationships/image"/><Relationship Id="rId11" Target="../media/image182.svg" Type="http://schemas.openxmlformats.org/officeDocument/2006/relationships/image"/><Relationship Id="rId12" Target="../media/image183.png" Type="http://schemas.openxmlformats.org/officeDocument/2006/relationships/image"/><Relationship Id="rId13" Target="../media/image184.svg" Type="http://schemas.openxmlformats.org/officeDocument/2006/relationships/image"/><Relationship Id="rId2" Target="../media/image173.png" Type="http://schemas.openxmlformats.org/officeDocument/2006/relationships/image"/><Relationship Id="rId3" Target="../media/image174.svg" Type="http://schemas.openxmlformats.org/officeDocument/2006/relationships/image"/><Relationship Id="rId4" Target="../media/image175.png" Type="http://schemas.openxmlformats.org/officeDocument/2006/relationships/image"/><Relationship Id="rId5" Target="../media/image176.svg" Type="http://schemas.openxmlformats.org/officeDocument/2006/relationships/image"/><Relationship Id="rId6" Target="../media/image177.png" Type="http://schemas.openxmlformats.org/officeDocument/2006/relationships/image"/><Relationship Id="rId7" Target="../media/image178.svg" Type="http://schemas.openxmlformats.org/officeDocument/2006/relationships/image"/><Relationship Id="rId8" Target="../media/image179.png" Type="http://schemas.openxmlformats.org/officeDocument/2006/relationships/image"/><Relationship Id="rId9" Target="../media/image180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5.png" Type="http://schemas.openxmlformats.org/officeDocument/2006/relationships/image"/><Relationship Id="rId3" Target="../media/image186.svg" Type="http://schemas.openxmlformats.org/officeDocument/2006/relationships/image"/><Relationship Id="rId4" Target="../media/image187.png" Type="http://schemas.openxmlformats.org/officeDocument/2006/relationships/image"/><Relationship Id="rId5" Target="../media/image188.svg" Type="http://schemas.openxmlformats.org/officeDocument/2006/relationships/image"/><Relationship Id="rId6" Target="../media/image105.png" Type="http://schemas.openxmlformats.org/officeDocument/2006/relationships/image"/><Relationship Id="rId7" Target="../media/image106.svg" Type="http://schemas.openxmlformats.org/officeDocument/2006/relationships/image"/><Relationship Id="rId8" Target="../media/image189.png" Type="http://schemas.openxmlformats.org/officeDocument/2006/relationships/image"/><Relationship Id="rId9" Target="../media/image19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9.png" Type="http://schemas.openxmlformats.org/officeDocument/2006/relationships/image"/><Relationship Id="rId11" Target="../media/image200.svg" Type="http://schemas.openxmlformats.org/officeDocument/2006/relationships/image"/><Relationship Id="rId12" Target="../media/image201.png" Type="http://schemas.openxmlformats.org/officeDocument/2006/relationships/image"/><Relationship Id="rId13" Target="../media/image202.svg" Type="http://schemas.openxmlformats.org/officeDocument/2006/relationships/image"/><Relationship Id="rId14" Target="../media/image203.png" Type="http://schemas.openxmlformats.org/officeDocument/2006/relationships/image"/><Relationship Id="rId15" Target="../media/image204.svg" Type="http://schemas.openxmlformats.org/officeDocument/2006/relationships/image"/><Relationship Id="rId16" Target="../media/image205.png" Type="http://schemas.openxmlformats.org/officeDocument/2006/relationships/image"/><Relationship Id="rId17" Target="../media/image206.svg" Type="http://schemas.openxmlformats.org/officeDocument/2006/relationships/image"/><Relationship Id="rId18" Target="../media/image105.png" Type="http://schemas.openxmlformats.org/officeDocument/2006/relationships/image"/><Relationship Id="rId19" Target="../media/image106.svg" Type="http://schemas.openxmlformats.org/officeDocument/2006/relationships/image"/><Relationship Id="rId2" Target="../media/image191.png" Type="http://schemas.openxmlformats.org/officeDocument/2006/relationships/image"/><Relationship Id="rId3" Target="../media/image192.svg" Type="http://schemas.openxmlformats.org/officeDocument/2006/relationships/image"/><Relationship Id="rId4" Target="../media/image193.png" Type="http://schemas.openxmlformats.org/officeDocument/2006/relationships/image"/><Relationship Id="rId5" Target="../media/image194.svg" Type="http://schemas.openxmlformats.org/officeDocument/2006/relationships/image"/><Relationship Id="rId6" Target="../media/image195.png" Type="http://schemas.openxmlformats.org/officeDocument/2006/relationships/image"/><Relationship Id="rId7" Target="../media/image196.svg" Type="http://schemas.openxmlformats.org/officeDocument/2006/relationships/image"/><Relationship Id="rId8" Target="../media/image197.png" Type="http://schemas.openxmlformats.org/officeDocument/2006/relationships/image"/><Relationship Id="rId9" Target="../media/image198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4.png" Type="http://schemas.openxmlformats.org/officeDocument/2006/relationships/image"/><Relationship Id="rId11" Target="../media/image215.png" Type="http://schemas.openxmlformats.org/officeDocument/2006/relationships/image"/><Relationship Id="rId12" Target="../media/image216.svg" Type="http://schemas.openxmlformats.org/officeDocument/2006/relationships/image"/><Relationship Id="rId2" Target="../media/image207.png" Type="http://schemas.openxmlformats.org/officeDocument/2006/relationships/image"/><Relationship Id="rId3" Target="../media/image208.svg" Type="http://schemas.openxmlformats.org/officeDocument/2006/relationships/image"/><Relationship Id="rId4" Target="../media/image209.png" Type="http://schemas.openxmlformats.org/officeDocument/2006/relationships/image"/><Relationship Id="rId5" Target="../media/image210.svg" Type="http://schemas.openxmlformats.org/officeDocument/2006/relationships/image"/><Relationship Id="rId6" Target="../media/image211.png" Type="http://schemas.openxmlformats.org/officeDocument/2006/relationships/image"/><Relationship Id="rId7" Target="../media/image212.svg" Type="http://schemas.openxmlformats.org/officeDocument/2006/relationships/image"/><Relationship Id="rId8" Target="../media/image213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7.png" Type="http://schemas.openxmlformats.org/officeDocument/2006/relationships/image"/><Relationship Id="rId3" Target="../media/image218.svg" Type="http://schemas.openxmlformats.org/officeDocument/2006/relationships/image"/><Relationship Id="rId4" Target="../media/image105.png" Type="http://schemas.openxmlformats.org/officeDocument/2006/relationships/image"/><Relationship Id="rId5" Target="../media/image106.svg" Type="http://schemas.openxmlformats.org/officeDocument/2006/relationships/image"/><Relationship Id="rId6" Target="../media/image219.png" Type="http://schemas.openxmlformats.org/officeDocument/2006/relationships/image"/><Relationship Id="rId7" Target="../media/image220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7.png" Type="http://schemas.openxmlformats.org/officeDocument/2006/relationships/image"/><Relationship Id="rId11" Target="../media/image228.svg" Type="http://schemas.openxmlformats.org/officeDocument/2006/relationships/image"/><Relationship Id="rId12" Target="../media/image229.png" Type="http://schemas.openxmlformats.org/officeDocument/2006/relationships/image"/><Relationship Id="rId13" Target="../media/image230.svg" Type="http://schemas.openxmlformats.org/officeDocument/2006/relationships/image"/><Relationship Id="rId14" Target="../media/image231.png" Type="http://schemas.openxmlformats.org/officeDocument/2006/relationships/image"/><Relationship Id="rId15" Target="../media/image232.png" Type="http://schemas.openxmlformats.org/officeDocument/2006/relationships/image"/><Relationship Id="rId16" Target="../media/image233.png" Type="http://schemas.openxmlformats.org/officeDocument/2006/relationships/image"/><Relationship Id="rId17" Target="../media/image234.png" Type="http://schemas.openxmlformats.org/officeDocument/2006/relationships/image"/><Relationship Id="rId18" Target="../media/image235.png" Type="http://schemas.openxmlformats.org/officeDocument/2006/relationships/image"/><Relationship Id="rId19" Target="../media/image236.png" Type="http://schemas.openxmlformats.org/officeDocument/2006/relationships/image"/><Relationship Id="rId2" Target="../media/image221.png" Type="http://schemas.openxmlformats.org/officeDocument/2006/relationships/image"/><Relationship Id="rId20" Target="../media/image237.svg" Type="http://schemas.openxmlformats.org/officeDocument/2006/relationships/image"/><Relationship Id="rId3" Target="../media/image222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223.png" Type="http://schemas.openxmlformats.org/officeDocument/2006/relationships/image"/><Relationship Id="rId7" Target="../media/image224.svg" Type="http://schemas.openxmlformats.org/officeDocument/2006/relationships/image"/><Relationship Id="rId8" Target="../media/image225.png" Type="http://schemas.openxmlformats.org/officeDocument/2006/relationships/image"/><Relationship Id="rId9" Target="../media/image226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6.png" Type="http://schemas.openxmlformats.org/officeDocument/2006/relationships/image"/><Relationship Id="rId11" Target="../media/image247.svg" Type="http://schemas.openxmlformats.org/officeDocument/2006/relationships/image"/><Relationship Id="rId12" Target="../media/image248.svg" Type="http://schemas.openxmlformats.org/officeDocument/2006/relationships/image"/><Relationship Id="rId13" Target="../media/image249.svg" Type="http://schemas.openxmlformats.org/officeDocument/2006/relationships/image"/><Relationship Id="rId14" Target="../media/image250.png" Type="http://schemas.openxmlformats.org/officeDocument/2006/relationships/image"/><Relationship Id="rId15" Target="../media/image251.svg" Type="http://schemas.openxmlformats.org/officeDocument/2006/relationships/image"/><Relationship Id="rId2" Target="../media/image238.png" Type="http://schemas.openxmlformats.org/officeDocument/2006/relationships/image"/><Relationship Id="rId3" Target="../media/image239.svg" Type="http://schemas.openxmlformats.org/officeDocument/2006/relationships/image"/><Relationship Id="rId4" Target="../media/image240.png" Type="http://schemas.openxmlformats.org/officeDocument/2006/relationships/image"/><Relationship Id="rId5" Target="../media/image241.svg" Type="http://schemas.openxmlformats.org/officeDocument/2006/relationships/image"/><Relationship Id="rId6" Target="../media/image242.png" Type="http://schemas.openxmlformats.org/officeDocument/2006/relationships/image"/><Relationship Id="rId7" Target="../media/image243.svg" Type="http://schemas.openxmlformats.org/officeDocument/2006/relationships/image"/><Relationship Id="rId8" Target="../media/image244.png" Type="http://schemas.openxmlformats.org/officeDocument/2006/relationships/image"/><Relationship Id="rId9" Target="../media/image24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1548" y="4503468"/>
            <a:ext cx="5531320" cy="1507960"/>
          </a:xfrm>
          <a:custGeom>
            <a:avLst/>
            <a:gdLst/>
            <a:ahLst/>
            <a:cxnLst/>
            <a:rect r="r" b="b" t="t" l="l"/>
            <a:pathLst>
              <a:path h="1507960" w="5531320">
                <a:moveTo>
                  <a:pt x="0" y="0"/>
                </a:moveTo>
                <a:lnTo>
                  <a:pt x="5531320" y="0"/>
                </a:lnTo>
                <a:lnTo>
                  <a:pt x="5531320" y="1507960"/>
                </a:lnTo>
                <a:lnTo>
                  <a:pt x="0" y="1507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9928" y="707088"/>
            <a:ext cx="4574438" cy="413918"/>
          </a:xfrm>
          <a:custGeom>
            <a:avLst/>
            <a:gdLst/>
            <a:ahLst/>
            <a:cxnLst/>
            <a:rect r="r" b="b" t="t" l="l"/>
            <a:pathLst>
              <a:path h="413918" w="4574438">
                <a:moveTo>
                  <a:pt x="0" y="0"/>
                </a:moveTo>
                <a:lnTo>
                  <a:pt x="4574439" y="0"/>
                </a:lnTo>
                <a:lnTo>
                  <a:pt x="4574439" y="413919"/>
                </a:lnTo>
                <a:lnTo>
                  <a:pt x="0" y="4139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42455" y="1025862"/>
            <a:ext cx="4623759" cy="4394797"/>
          </a:xfrm>
          <a:custGeom>
            <a:avLst/>
            <a:gdLst/>
            <a:ahLst/>
            <a:cxnLst/>
            <a:rect r="r" b="b" t="t" l="l"/>
            <a:pathLst>
              <a:path h="4394797" w="4623759">
                <a:moveTo>
                  <a:pt x="0" y="0"/>
                </a:moveTo>
                <a:lnTo>
                  <a:pt x="4623758" y="0"/>
                </a:lnTo>
                <a:lnTo>
                  <a:pt x="4623758" y="4394796"/>
                </a:lnTo>
                <a:lnTo>
                  <a:pt x="0" y="4394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45635" y="135051"/>
            <a:ext cx="1215346" cy="1215346"/>
          </a:xfrm>
          <a:custGeom>
            <a:avLst/>
            <a:gdLst/>
            <a:ahLst/>
            <a:cxnLst/>
            <a:rect r="r" b="b" t="t" l="l"/>
            <a:pathLst>
              <a:path h="1215346" w="1215346">
                <a:moveTo>
                  <a:pt x="0" y="0"/>
                </a:moveTo>
                <a:lnTo>
                  <a:pt x="1215347" y="0"/>
                </a:lnTo>
                <a:lnTo>
                  <a:pt x="1215347" y="1215346"/>
                </a:lnTo>
                <a:lnTo>
                  <a:pt x="0" y="12153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04524" y="6458626"/>
            <a:ext cx="65589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7991" y="797243"/>
            <a:ext cx="364360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PS-019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02564" y="797243"/>
            <a:ext cx="2203761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CYBERSECURITY / PRIVACY ENGINEERING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9728" y="1953978"/>
            <a:ext cx="5808659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Personal-Data Discovery &amp; Privacy Evidence Inventory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5800" y="1194592"/>
            <a:ext cx="5808659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>
                <a:solidFill>
                  <a:srgbClr val="5DDFA9"/>
                </a:solidFill>
                <a:latin typeface="Carlito Bold"/>
                <a:ea typeface="Carlito Bold"/>
                <a:cs typeface="Carlito Bold"/>
                <a:sym typeface="Carlito Bold"/>
              </a:rPr>
              <a:t>AIORI 3 - HACKATHON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13367" y="3280620"/>
            <a:ext cx="49797" cy="32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sz="17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9728" y="3280620"/>
            <a:ext cx="5788514" cy="32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sz="17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An Explainable, Rule-BasedApproachtoPersonal-DataDiscovery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9728" y="3539814"/>
            <a:ext cx="2902734" cy="32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sz="17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and Metadata Gap Identification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8328" y="4749494"/>
            <a:ext cx="4663208" cy="86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b="true" sz="14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Team Name:</a:t>
            </a:r>
            <a:r>
              <a:rPr lang="en-US" sz="14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PrivSight</a:t>
            </a:r>
          </a:p>
          <a:p>
            <a:pPr algn="l">
              <a:lnSpc>
                <a:spcPts val="2282"/>
              </a:lnSpc>
            </a:pPr>
            <a:r>
              <a:rPr lang="en-US" b="true" sz="14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Team Members:</a:t>
            </a:r>
            <a:r>
              <a:rPr lang="en-US" sz="14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Yogesh Asnora</a:t>
            </a: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, </a:t>
            </a:r>
            <a:r>
              <a:rPr lang="en-US" sz="14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Honey Verma, Naitik Gupta</a:t>
            </a:r>
          </a:p>
          <a:p>
            <a:pPr algn="l">
              <a:lnSpc>
                <a:spcPts val="2282"/>
              </a:lnSpc>
            </a:pPr>
            <a:r>
              <a:rPr lang="en-US" sz="14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b="true" sz="14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Institution: </a:t>
            </a:r>
            <a:r>
              <a:rPr lang="en-US" sz="14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Invertis University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12923" y="1293247"/>
            <a:ext cx="977055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customers.csv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94921" y="2207647"/>
            <a:ext cx="1014136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employees.csv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43076" y="4036447"/>
            <a:ext cx="1119978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SQLite database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46686" y="3122047"/>
            <a:ext cx="1111891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transactions.csv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49717" y="4821260"/>
            <a:ext cx="616534" cy="420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b="true" sz="1301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Evidence</a:t>
            </a:r>
          </a:p>
          <a:p>
            <a:pPr algn="ctr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inventory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089805" y="4821260"/>
            <a:ext cx="365712" cy="420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b="true" sz="1301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Gap</a:t>
            </a:r>
          </a:p>
          <a:p>
            <a:pPr algn="ctr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report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99434" y="2657380"/>
            <a:ext cx="940003" cy="83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b="true" sz="1598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Discovery</a:t>
            </a:r>
          </a:p>
          <a:p>
            <a:pPr algn="ctr">
              <a:lnSpc>
                <a:spcPts val="3339"/>
              </a:lnSpc>
            </a:pPr>
            <a:r>
              <a:rPr lang="en-US" b="true" sz="1598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Engine</a:t>
            </a:r>
          </a:p>
          <a:p>
            <a:pPr algn="ctr">
              <a:lnSpc>
                <a:spcPts val="2297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rules + evidence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23408" y="5527338"/>
            <a:ext cx="215506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 i="true">
                <a:solidFill>
                  <a:srgbClr val="9FB0C8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Synthetic demonstration data only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4884788" y="1549537"/>
            <a:ext cx="2658288" cy="2971358"/>
          </a:xfrm>
          <a:custGeom>
            <a:avLst/>
            <a:gdLst/>
            <a:ahLst/>
            <a:cxnLst/>
            <a:rect r="r" b="b" t="t" l="l"/>
            <a:pathLst>
              <a:path h="2971358" w="2658288">
                <a:moveTo>
                  <a:pt x="0" y="0"/>
                </a:moveTo>
                <a:lnTo>
                  <a:pt x="2658288" y="0"/>
                </a:lnTo>
                <a:lnTo>
                  <a:pt x="2658288" y="2971357"/>
                </a:lnTo>
                <a:lnTo>
                  <a:pt x="0" y="29713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>
              <a:fillRect l="-5888" t="0" r="-5888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108" y="1120540"/>
            <a:ext cx="3702520" cy="1553680"/>
          </a:xfrm>
          <a:custGeom>
            <a:avLst/>
            <a:gdLst/>
            <a:ahLst/>
            <a:cxnLst/>
            <a:rect r="r" b="b" t="t" l="l"/>
            <a:pathLst>
              <a:path h="1553680" w="3702520">
                <a:moveTo>
                  <a:pt x="0" y="0"/>
                </a:moveTo>
                <a:lnTo>
                  <a:pt x="3702520" y="0"/>
                </a:lnTo>
                <a:lnTo>
                  <a:pt x="3702520" y="1553680"/>
                </a:lnTo>
                <a:lnTo>
                  <a:pt x="0" y="1553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29148" y="1120540"/>
            <a:ext cx="3702520" cy="1553680"/>
          </a:xfrm>
          <a:custGeom>
            <a:avLst/>
            <a:gdLst/>
            <a:ahLst/>
            <a:cxnLst/>
            <a:rect r="r" b="b" t="t" l="l"/>
            <a:pathLst>
              <a:path h="1553680" w="3702520">
                <a:moveTo>
                  <a:pt x="0" y="0"/>
                </a:moveTo>
                <a:lnTo>
                  <a:pt x="3702520" y="0"/>
                </a:lnTo>
                <a:lnTo>
                  <a:pt x="3702520" y="1553680"/>
                </a:lnTo>
                <a:lnTo>
                  <a:pt x="0" y="15536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78188" y="1120540"/>
            <a:ext cx="3702520" cy="1553680"/>
          </a:xfrm>
          <a:custGeom>
            <a:avLst/>
            <a:gdLst/>
            <a:ahLst/>
            <a:cxnLst/>
            <a:rect r="r" b="b" t="t" l="l"/>
            <a:pathLst>
              <a:path h="1553680" w="3702520">
                <a:moveTo>
                  <a:pt x="0" y="0"/>
                </a:moveTo>
                <a:lnTo>
                  <a:pt x="3702520" y="0"/>
                </a:lnTo>
                <a:lnTo>
                  <a:pt x="3702520" y="1553680"/>
                </a:lnTo>
                <a:lnTo>
                  <a:pt x="0" y="15536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68680" y="1508389"/>
            <a:ext cx="273968" cy="273968"/>
            <a:chOff x="0" y="0"/>
            <a:chExt cx="365290" cy="36529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365252" cy="365252"/>
            </a:xfrm>
            <a:custGeom>
              <a:avLst/>
              <a:gdLst/>
              <a:ahLst/>
              <a:cxnLst/>
              <a:rect r="r" b="b" t="t" l="l"/>
              <a:pathLst>
                <a:path h="365252" w="365252">
                  <a:moveTo>
                    <a:pt x="0" y="0"/>
                  </a:moveTo>
                  <a:lnTo>
                    <a:pt x="365252" y="0"/>
                  </a:lnTo>
                  <a:lnTo>
                    <a:pt x="365252" y="365252"/>
                  </a:lnTo>
                  <a:lnTo>
                    <a:pt x="0" y="365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0" b="-1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617720" y="1508389"/>
            <a:ext cx="273968" cy="273968"/>
            <a:chOff x="0" y="0"/>
            <a:chExt cx="365290" cy="36529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365252" cy="365252"/>
            </a:xfrm>
            <a:custGeom>
              <a:avLst/>
              <a:gdLst/>
              <a:ahLst/>
              <a:cxnLst/>
              <a:rect r="r" b="b" t="t" l="l"/>
              <a:pathLst>
                <a:path h="365252" w="365252">
                  <a:moveTo>
                    <a:pt x="0" y="0"/>
                  </a:moveTo>
                  <a:lnTo>
                    <a:pt x="365252" y="0"/>
                  </a:lnTo>
                  <a:lnTo>
                    <a:pt x="365252" y="365252"/>
                  </a:lnTo>
                  <a:lnTo>
                    <a:pt x="0" y="365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0" b="-1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366760" y="1508389"/>
            <a:ext cx="273968" cy="273968"/>
            <a:chOff x="0" y="0"/>
            <a:chExt cx="365290" cy="36529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365252" cy="365252"/>
            </a:xfrm>
            <a:custGeom>
              <a:avLst/>
              <a:gdLst/>
              <a:ahLst/>
              <a:cxnLst/>
              <a:rect r="r" b="b" t="t" l="l"/>
              <a:pathLst>
                <a:path h="365252" w="365252">
                  <a:moveTo>
                    <a:pt x="0" y="0"/>
                  </a:moveTo>
                  <a:lnTo>
                    <a:pt x="365252" y="0"/>
                  </a:lnTo>
                  <a:lnTo>
                    <a:pt x="365252" y="365252"/>
                  </a:lnTo>
                  <a:lnTo>
                    <a:pt x="0" y="365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10" b="-1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476869" y="5369262"/>
            <a:ext cx="11234433" cy="645757"/>
          </a:xfrm>
          <a:custGeom>
            <a:avLst/>
            <a:gdLst/>
            <a:ahLst/>
            <a:cxnLst/>
            <a:rect r="r" b="b" t="t" l="l"/>
            <a:pathLst>
              <a:path h="645757" w="11234433">
                <a:moveTo>
                  <a:pt x="0" y="0"/>
                </a:moveTo>
                <a:lnTo>
                  <a:pt x="11234433" y="0"/>
                </a:lnTo>
                <a:lnTo>
                  <a:pt x="11234433" y="645756"/>
                </a:lnTo>
                <a:lnTo>
                  <a:pt x="0" y="64575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77222" y="3265789"/>
            <a:ext cx="11234433" cy="874357"/>
          </a:xfrm>
          <a:custGeom>
            <a:avLst/>
            <a:gdLst/>
            <a:ahLst/>
            <a:cxnLst/>
            <a:rect r="r" b="b" t="t" l="l"/>
            <a:pathLst>
              <a:path h="874357" w="11234433">
                <a:moveTo>
                  <a:pt x="0" y="0"/>
                </a:moveTo>
                <a:lnTo>
                  <a:pt x="11234432" y="0"/>
                </a:lnTo>
                <a:lnTo>
                  <a:pt x="11234432" y="874357"/>
                </a:lnTo>
                <a:lnTo>
                  <a:pt x="0" y="8743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04524" y="6458626"/>
            <a:ext cx="65589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8640" y="-37195"/>
            <a:ext cx="3367945" cy="1663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Executive Summary</a:t>
            </a:r>
          </a:p>
          <a:p>
            <a:pPr algn="ctr">
              <a:lnSpc>
                <a:spcPts val="3996"/>
              </a:lnSpc>
            </a:pPr>
            <a:r>
              <a:rPr lang="en-US" b="true" sz="1598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7320" y="1307040"/>
            <a:ext cx="2638568" cy="6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Scattered</a:t>
            </a:r>
            <a:r>
              <a:rPr lang="en-US" b="true" sz="1598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  <a:r>
              <a:rPr lang="en-US" b="true" sz="1598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data</a:t>
            </a:r>
          </a:p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Organisations keepinformation across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86526" y="1733379"/>
            <a:ext cx="38090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66360" y="1335615"/>
            <a:ext cx="2693175" cy="85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b="true" sz="1598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Hard to find manually</a:t>
            </a:r>
          </a:p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Spotting candidate personal-data fields by hand is slow and error-prone.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15400" y="1307040"/>
            <a:ext cx="1837563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Incomplete metadata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08284" y="1733379"/>
            <a:ext cx="38090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8640" y="4185114"/>
            <a:ext cx="1774098" cy="42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CSV files and a structured SQLite database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7320" y="1931737"/>
            <a:ext cx="1749152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many files and databases.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31049" y="4185114"/>
            <a:ext cx="1687640" cy="62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Configurable rules flag candidate personal-data fields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13439" y="4185114"/>
            <a:ext cx="1676343" cy="62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Findings are matched to declared purpose and retention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95848" y="4185114"/>
            <a:ext cx="1894103" cy="62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Evidence inventory and metadata gap report (CSV / JSON)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915400" y="1733379"/>
            <a:ext cx="2207933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Declaredpurpose andretention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915400" y="1931737"/>
            <a:ext cx="1928317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information may be missing.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77886" y="4185114"/>
            <a:ext cx="1891065" cy="42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Humans interpret evidence and make the decisions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8288" y="2780367"/>
            <a:ext cx="7116613" cy="32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Our prototype automates field discovery and produces an evidence inventory.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5474" y="3502733"/>
            <a:ext cx="517179" cy="35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Input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407045" y="3502733"/>
            <a:ext cx="825665" cy="35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Discover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877001" y="3502733"/>
            <a:ext cx="443722" cy="35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Map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053568" y="3502733"/>
            <a:ext cx="658482" cy="35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Report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15080" y="3502733"/>
            <a:ext cx="700449" cy="35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Review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448802" y="5531577"/>
            <a:ext cx="5390302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Human reviewers stay responsible for interpretation and decisions.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108" y="1120540"/>
            <a:ext cx="3702520" cy="1919440"/>
          </a:xfrm>
          <a:custGeom>
            <a:avLst/>
            <a:gdLst/>
            <a:ahLst/>
            <a:cxnLst/>
            <a:rect r="r" b="b" t="t" l="l"/>
            <a:pathLst>
              <a:path h="1919440" w="3702520">
                <a:moveTo>
                  <a:pt x="0" y="0"/>
                </a:moveTo>
                <a:lnTo>
                  <a:pt x="3702520" y="0"/>
                </a:lnTo>
                <a:lnTo>
                  <a:pt x="3702520" y="1919440"/>
                </a:lnTo>
                <a:lnTo>
                  <a:pt x="0" y="1919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0108" y="3086500"/>
            <a:ext cx="3702520" cy="1919440"/>
          </a:xfrm>
          <a:custGeom>
            <a:avLst/>
            <a:gdLst/>
            <a:ahLst/>
            <a:cxnLst/>
            <a:rect r="r" b="b" t="t" l="l"/>
            <a:pathLst>
              <a:path h="1919440" w="3702520">
                <a:moveTo>
                  <a:pt x="0" y="0"/>
                </a:moveTo>
                <a:lnTo>
                  <a:pt x="3702520" y="0"/>
                </a:lnTo>
                <a:lnTo>
                  <a:pt x="3702520" y="1919440"/>
                </a:lnTo>
                <a:lnTo>
                  <a:pt x="0" y="19194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29148" y="1120540"/>
            <a:ext cx="3702520" cy="1919440"/>
          </a:xfrm>
          <a:custGeom>
            <a:avLst/>
            <a:gdLst/>
            <a:ahLst/>
            <a:cxnLst/>
            <a:rect r="r" b="b" t="t" l="l"/>
            <a:pathLst>
              <a:path h="1919440" w="3702520">
                <a:moveTo>
                  <a:pt x="0" y="0"/>
                </a:moveTo>
                <a:lnTo>
                  <a:pt x="3702520" y="0"/>
                </a:lnTo>
                <a:lnTo>
                  <a:pt x="3702520" y="1919440"/>
                </a:lnTo>
                <a:lnTo>
                  <a:pt x="0" y="19194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29148" y="3086500"/>
            <a:ext cx="3702520" cy="1919440"/>
          </a:xfrm>
          <a:custGeom>
            <a:avLst/>
            <a:gdLst/>
            <a:ahLst/>
            <a:cxnLst/>
            <a:rect r="r" b="b" t="t" l="l"/>
            <a:pathLst>
              <a:path h="1919440" w="3702520">
                <a:moveTo>
                  <a:pt x="0" y="0"/>
                </a:moveTo>
                <a:lnTo>
                  <a:pt x="3702520" y="0"/>
                </a:lnTo>
                <a:lnTo>
                  <a:pt x="3702520" y="1919440"/>
                </a:lnTo>
                <a:lnTo>
                  <a:pt x="0" y="19194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6869" y="5186382"/>
            <a:ext cx="11234433" cy="828637"/>
          </a:xfrm>
          <a:custGeom>
            <a:avLst/>
            <a:gdLst/>
            <a:ahLst/>
            <a:cxnLst/>
            <a:rect r="r" b="b" t="t" l="l"/>
            <a:pathLst>
              <a:path h="828637" w="11234433">
                <a:moveTo>
                  <a:pt x="0" y="0"/>
                </a:moveTo>
                <a:lnTo>
                  <a:pt x="11234433" y="0"/>
                </a:lnTo>
                <a:lnTo>
                  <a:pt x="11234433" y="828636"/>
                </a:lnTo>
                <a:lnTo>
                  <a:pt x="0" y="8286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78188" y="1120540"/>
            <a:ext cx="3702520" cy="1919440"/>
          </a:xfrm>
          <a:custGeom>
            <a:avLst/>
            <a:gdLst/>
            <a:ahLst/>
            <a:cxnLst/>
            <a:rect r="r" b="b" t="t" l="l"/>
            <a:pathLst>
              <a:path h="1919440" w="3702520">
                <a:moveTo>
                  <a:pt x="0" y="0"/>
                </a:moveTo>
                <a:lnTo>
                  <a:pt x="3702520" y="0"/>
                </a:lnTo>
                <a:lnTo>
                  <a:pt x="3702520" y="1919440"/>
                </a:lnTo>
                <a:lnTo>
                  <a:pt x="0" y="19194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78188" y="3086500"/>
            <a:ext cx="3702520" cy="1919440"/>
          </a:xfrm>
          <a:custGeom>
            <a:avLst/>
            <a:gdLst/>
            <a:ahLst/>
            <a:cxnLst/>
            <a:rect r="r" b="b" t="t" l="l"/>
            <a:pathLst>
              <a:path h="1919440" w="3702520">
                <a:moveTo>
                  <a:pt x="0" y="0"/>
                </a:moveTo>
                <a:lnTo>
                  <a:pt x="3702520" y="0"/>
                </a:lnTo>
                <a:lnTo>
                  <a:pt x="3702520" y="1919440"/>
                </a:lnTo>
                <a:lnTo>
                  <a:pt x="0" y="19194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04524" y="6458626"/>
            <a:ext cx="65589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8640" y="305705"/>
            <a:ext cx="4755499" cy="60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Understanding the Problem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8680" y="1400556"/>
            <a:ext cx="91783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1120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06289" y="1335681"/>
            <a:ext cx="49797" cy="32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 spc="136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17720" y="1400556"/>
            <a:ext cx="91783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1120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03675" y="1335681"/>
            <a:ext cx="49797" cy="32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 spc="136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8680" y="3366516"/>
            <a:ext cx="91783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17720" y="3366516"/>
            <a:ext cx="91783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66760" y="1400556"/>
            <a:ext cx="91783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66760" y="3366516"/>
            <a:ext cx="91783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4088" y="1335681"/>
            <a:ext cx="1245918" cy="32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Personal</a:t>
            </a:r>
            <a:r>
              <a:rPr lang="en-US" b="true" sz="170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  <a:r>
              <a:rPr lang="en-US" b="true" sz="17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data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4088" y="3301641"/>
            <a:ext cx="1827790" cy="32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Retention metadata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83128" y="1335681"/>
            <a:ext cx="1345282" cy="32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Data</a:t>
            </a:r>
            <a:r>
              <a:rPr lang="en-US" b="true" sz="170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  <a:r>
              <a:rPr lang="en-US" b="true" sz="17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discovery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83128" y="3301641"/>
            <a:ext cx="1737455" cy="32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Evidence inventory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732168" y="3301641"/>
            <a:ext cx="1270816" cy="32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Metadata gap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32168" y="1335681"/>
            <a:ext cx="1589399" cy="32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 spc="1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Business purpose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7240" y="1898752"/>
            <a:ext cx="2856490" cy="62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Information that relates to an identifiable person, such as a name, email address or phone number.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7240" y="3864712"/>
            <a:ext cx="3167291" cy="42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How long the organisation says it keeps a field (declared, e.g. "24 months").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526280" y="3864712"/>
            <a:ext cx="2671934" cy="42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A single table of flagged fields with the technical evidence for each flag.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526280" y="1898752"/>
            <a:ext cx="3206220" cy="42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Finding where such information may be stored across files and databases.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75320" y="3864712"/>
            <a:ext cx="2903344" cy="42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A flagged field whose declared purpose or retention information is missing or blank.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275320" y="1898752"/>
            <a:ext cx="3253245" cy="42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The reason the organisation says it holds a field (declared, e.g. "order communication").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42682" y="5440137"/>
            <a:ext cx="9069495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The system finds CANDIDATE fields and records technical evidence. A candidate is not a final legal determination.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108" y="1486300"/>
            <a:ext cx="5257000" cy="1096480"/>
          </a:xfrm>
          <a:custGeom>
            <a:avLst/>
            <a:gdLst/>
            <a:ahLst/>
            <a:cxnLst/>
            <a:rect r="r" b="b" t="t" l="l"/>
            <a:pathLst>
              <a:path h="1096480" w="5257000">
                <a:moveTo>
                  <a:pt x="0" y="0"/>
                </a:moveTo>
                <a:lnTo>
                  <a:pt x="5257000" y="0"/>
                </a:lnTo>
                <a:lnTo>
                  <a:pt x="5257000" y="1096480"/>
                </a:lnTo>
                <a:lnTo>
                  <a:pt x="0" y="1096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82408" y="432768"/>
            <a:ext cx="2699918" cy="413918"/>
          </a:xfrm>
          <a:custGeom>
            <a:avLst/>
            <a:gdLst/>
            <a:ahLst/>
            <a:cxnLst/>
            <a:rect r="r" b="b" t="t" l="l"/>
            <a:pathLst>
              <a:path h="413918" w="2699918">
                <a:moveTo>
                  <a:pt x="0" y="0"/>
                </a:moveTo>
                <a:lnTo>
                  <a:pt x="2699919" y="0"/>
                </a:lnTo>
                <a:lnTo>
                  <a:pt x="2699919" y="413919"/>
                </a:lnTo>
                <a:lnTo>
                  <a:pt x="0" y="4139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0108" y="2583580"/>
            <a:ext cx="5257000" cy="1096480"/>
          </a:xfrm>
          <a:custGeom>
            <a:avLst/>
            <a:gdLst/>
            <a:ahLst/>
            <a:cxnLst/>
            <a:rect r="r" b="b" t="t" l="l"/>
            <a:pathLst>
              <a:path h="1096480" w="5257000">
                <a:moveTo>
                  <a:pt x="0" y="0"/>
                </a:moveTo>
                <a:lnTo>
                  <a:pt x="5257000" y="0"/>
                </a:lnTo>
                <a:lnTo>
                  <a:pt x="5257000" y="1096480"/>
                </a:lnTo>
                <a:lnTo>
                  <a:pt x="0" y="10964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0108" y="3680860"/>
            <a:ext cx="5257000" cy="1096480"/>
          </a:xfrm>
          <a:custGeom>
            <a:avLst/>
            <a:gdLst/>
            <a:ahLst/>
            <a:cxnLst/>
            <a:rect r="r" b="b" t="t" l="l"/>
            <a:pathLst>
              <a:path h="1096480" w="5257000">
                <a:moveTo>
                  <a:pt x="0" y="0"/>
                </a:moveTo>
                <a:lnTo>
                  <a:pt x="5257000" y="0"/>
                </a:lnTo>
                <a:lnTo>
                  <a:pt x="5257000" y="1096480"/>
                </a:lnTo>
                <a:lnTo>
                  <a:pt x="0" y="10964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0108" y="4778140"/>
            <a:ext cx="5257000" cy="1096480"/>
          </a:xfrm>
          <a:custGeom>
            <a:avLst/>
            <a:gdLst/>
            <a:ahLst/>
            <a:cxnLst/>
            <a:rect r="r" b="b" t="t" l="l"/>
            <a:pathLst>
              <a:path h="1096480" w="5257000">
                <a:moveTo>
                  <a:pt x="0" y="0"/>
                </a:moveTo>
                <a:lnTo>
                  <a:pt x="5257000" y="0"/>
                </a:lnTo>
                <a:lnTo>
                  <a:pt x="5257000" y="1096480"/>
                </a:lnTo>
                <a:lnTo>
                  <a:pt x="0" y="10964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68680" y="1892513"/>
            <a:ext cx="273968" cy="273968"/>
            <a:chOff x="0" y="0"/>
            <a:chExt cx="365290" cy="36529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365252" cy="365252"/>
            </a:xfrm>
            <a:custGeom>
              <a:avLst/>
              <a:gdLst/>
              <a:ahLst/>
              <a:cxnLst/>
              <a:rect r="r" b="b" t="t" l="l"/>
              <a:pathLst>
                <a:path h="365252" w="365252">
                  <a:moveTo>
                    <a:pt x="0" y="0"/>
                  </a:moveTo>
                  <a:lnTo>
                    <a:pt x="365252" y="0"/>
                  </a:lnTo>
                  <a:lnTo>
                    <a:pt x="365252" y="365252"/>
                  </a:lnTo>
                  <a:lnTo>
                    <a:pt x="0" y="365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10" b="-1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68680" y="2989793"/>
            <a:ext cx="273968" cy="273968"/>
            <a:chOff x="0" y="0"/>
            <a:chExt cx="365290" cy="36529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365252" cy="365252"/>
            </a:xfrm>
            <a:custGeom>
              <a:avLst/>
              <a:gdLst/>
              <a:ahLst/>
              <a:cxnLst/>
              <a:rect r="r" b="b" t="t" l="l"/>
              <a:pathLst>
                <a:path h="365252" w="365252">
                  <a:moveTo>
                    <a:pt x="0" y="0"/>
                  </a:moveTo>
                  <a:lnTo>
                    <a:pt x="365252" y="0"/>
                  </a:lnTo>
                  <a:lnTo>
                    <a:pt x="365252" y="365252"/>
                  </a:lnTo>
                  <a:lnTo>
                    <a:pt x="0" y="365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10" b="-1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68680" y="4087073"/>
            <a:ext cx="273968" cy="273968"/>
            <a:chOff x="0" y="0"/>
            <a:chExt cx="365290" cy="36529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365252" cy="365252"/>
            </a:xfrm>
            <a:custGeom>
              <a:avLst/>
              <a:gdLst/>
              <a:ahLst/>
              <a:cxnLst/>
              <a:rect r="r" b="b" t="t" l="l"/>
              <a:pathLst>
                <a:path h="365252" w="365252">
                  <a:moveTo>
                    <a:pt x="0" y="0"/>
                  </a:moveTo>
                  <a:lnTo>
                    <a:pt x="365252" y="0"/>
                  </a:lnTo>
                  <a:lnTo>
                    <a:pt x="365252" y="365252"/>
                  </a:lnTo>
                  <a:lnTo>
                    <a:pt x="0" y="365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10" b="-1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68680" y="5184353"/>
            <a:ext cx="273968" cy="273968"/>
            <a:chOff x="0" y="0"/>
            <a:chExt cx="365290" cy="36529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365252" cy="365252"/>
            </a:xfrm>
            <a:custGeom>
              <a:avLst/>
              <a:gdLst/>
              <a:ahLst/>
              <a:cxnLst/>
              <a:rect r="r" b="b" t="t" l="l"/>
              <a:pathLst>
                <a:path h="365252" w="365252">
                  <a:moveTo>
                    <a:pt x="0" y="0"/>
                  </a:moveTo>
                  <a:lnTo>
                    <a:pt x="365252" y="0"/>
                  </a:lnTo>
                  <a:lnTo>
                    <a:pt x="365252" y="365252"/>
                  </a:lnTo>
                  <a:lnTo>
                    <a:pt x="0" y="365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10" b="-1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5742937" y="1486300"/>
            <a:ext cx="5965126" cy="4388320"/>
          </a:xfrm>
          <a:custGeom>
            <a:avLst/>
            <a:gdLst/>
            <a:ahLst/>
            <a:cxnLst/>
            <a:rect r="r" b="b" t="t" l="l"/>
            <a:pathLst>
              <a:path h="4388320" w="5965126">
                <a:moveTo>
                  <a:pt x="0" y="0"/>
                </a:moveTo>
                <a:lnTo>
                  <a:pt x="5965126" y="0"/>
                </a:lnTo>
                <a:lnTo>
                  <a:pt x="5965126" y="4388320"/>
                </a:lnTo>
                <a:lnTo>
                  <a:pt x="0" y="43883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92923" y="522923"/>
            <a:ext cx="1508227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A78BFA"/>
                </a:solidFill>
                <a:latin typeface="Carlito Bold"/>
                <a:ea typeface="Carlito Bold"/>
                <a:cs typeface="Carlito Bold"/>
                <a:sym typeface="Carlito Bold"/>
              </a:rPr>
              <a:t>HYPOTHETICAL / SYNTHETIC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04524" y="6458626"/>
            <a:ext cx="65589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8288" y="-37195"/>
            <a:ext cx="6035621" cy="1355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Real-World Scenario (Hypothetical)</a:t>
            </a:r>
          </a:p>
          <a:p>
            <a:pPr algn="l">
              <a:lnSpc>
                <a:spcPts val="3500"/>
              </a:lnSpc>
            </a:pPr>
            <a:r>
              <a:rPr lang="en-US" sz="1400" i="true">
                <a:solidFill>
                  <a:srgbClr val="9FB0C8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Fictional company "Example Retail Co." - all data is synthetic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2688" y="1645796"/>
            <a:ext cx="1201779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customers.csv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81902" y="2035054"/>
            <a:ext cx="38090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2688" y="2743076"/>
            <a:ext cx="1246508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employees.csv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81902" y="3132334"/>
            <a:ext cx="38090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2688" y="4937636"/>
            <a:ext cx="1376772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SQLite database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94370" y="5326894"/>
            <a:ext cx="38090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62688" y="3840356"/>
            <a:ext cx="1367457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transactions.csv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31758" y="4229614"/>
            <a:ext cx="38090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62688" y="2035054"/>
            <a:ext cx="1678876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name,email,phone, city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62688" y="3132334"/>
            <a:ext cx="1808817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name,</a:t>
            </a: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301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salary,</a:t>
            </a: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301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blood_group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62688" y="4229614"/>
            <a:ext cx="2149783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account_number,amount, date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2688" y="5326894"/>
            <a:ext cx="2884637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customers,employees, transactions tables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20488" y="1628584"/>
            <a:ext cx="1328376" cy="35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The challenge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20919" y="2279218"/>
            <a:ext cx="372799" cy="19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 spc="46">
                <a:solidFill>
                  <a:srgbClr val="E8EEF8"/>
                </a:solidFill>
                <a:latin typeface="Montserrat"/>
                <a:ea typeface="Montserrat"/>
                <a:cs typeface="Montserrat"/>
                <a:sym typeface="Montserrat"/>
              </a:rPr>
              <a:t>name</a:t>
            </a:r>
            <a:r>
              <a:rPr lang="en-US" sz="1199" spc="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499880" y="2279218"/>
            <a:ext cx="465992" cy="19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 spc="46">
                <a:solidFill>
                  <a:srgbClr val="E8EEF8"/>
                </a:solidFill>
                <a:latin typeface="Montserrat"/>
                <a:ea typeface="Montserrat"/>
                <a:cs typeface="Montserrat"/>
                <a:sym typeface="Montserrat"/>
              </a:rPr>
              <a:t>email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843598" y="2736418"/>
            <a:ext cx="1304782" cy="19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 spc="46">
                <a:solidFill>
                  <a:srgbClr val="E8EEF8"/>
                </a:solidFill>
                <a:latin typeface="Montserrat"/>
                <a:ea typeface="Montserrat"/>
                <a:cs typeface="Montserrat"/>
                <a:sym typeface="Montserrat"/>
              </a:rPr>
              <a:t>account_number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272434" y="2279218"/>
            <a:ext cx="465992" cy="19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 spc="46">
                <a:solidFill>
                  <a:srgbClr val="E8EEF8"/>
                </a:solidFill>
                <a:latin typeface="Montserrat"/>
                <a:ea typeface="Montserrat"/>
                <a:cs typeface="Montserrat"/>
                <a:sym typeface="Montserrat"/>
              </a:rPr>
              <a:t>phone</a:t>
            </a:r>
            <a:r>
              <a:rPr lang="en-US" sz="1199" spc="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042844" y="2279218"/>
            <a:ext cx="372799" cy="19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 spc="46">
                <a:solidFill>
                  <a:srgbClr val="E8EEF8"/>
                </a:solidFill>
                <a:latin typeface="Montserrat"/>
                <a:ea typeface="Montserrat"/>
                <a:cs typeface="Montserrat"/>
                <a:sym typeface="Montserrat"/>
              </a:rPr>
              <a:t>city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473678" y="2736418"/>
            <a:ext cx="1025185" cy="19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 spc="46">
                <a:solidFill>
                  <a:srgbClr val="E8EEF8"/>
                </a:solidFill>
                <a:latin typeface="Montserrat"/>
                <a:ea typeface="Montserrat"/>
                <a:cs typeface="Montserrat"/>
                <a:sym typeface="Montserrat"/>
              </a:rPr>
              <a:t>blood_group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723958" y="2279218"/>
            <a:ext cx="559194" cy="19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 spc="46">
                <a:solidFill>
                  <a:srgbClr val="E8EEF8"/>
                </a:solidFill>
                <a:latin typeface="Montserrat"/>
                <a:ea typeface="Montserrat"/>
                <a:cs typeface="Montserrat"/>
                <a:sym typeface="Montserrat"/>
              </a:rPr>
              <a:t>salary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720488" y="3377784"/>
            <a:ext cx="68961" cy="1281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1499" spc="-2">
                <a:solidFill>
                  <a:srgbClr val="E8EEF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 • • •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98319" y="3332455"/>
            <a:ext cx="3184455" cy="132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8"/>
              </a:lnSpc>
            </a:pPr>
            <a:r>
              <a:rPr lang="en-US" sz="14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Which columns may hold personal data? What purpose is declared for each? What retention period is declared? Which of these answers are missing?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108" y="1120188"/>
            <a:ext cx="3702520" cy="1965160"/>
          </a:xfrm>
          <a:custGeom>
            <a:avLst/>
            <a:gdLst/>
            <a:ahLst/>
            <a:cxnLst/>
            <a:rect r="r" b="b" t="t" l="l"/>
            <a:pathLst>
              <a:path h="1965160" w="3702520">
                <a:moveTo>
                  <a:pt x="0" y="0"/>
                </a:moveTo>
                <a:lnTo>
                  <a:pt x="3702520" y="0"/>
                </a:lnTo>
                <a:lnTo>
                  <a:pt x="3702520" y="1965160"/>
                </a:lnTo>
                <a:lnTo>
                  <a:pt x="0" y="1965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29148" y="1120188"/>
            <a:ext cx="3702520" cy="1965160"/>
          </a:xfrm>
          <a:custGeom>
            <a:avLst/>
            <a:gdLst/>
            <a:ahLst/>
            <a:cxnLst/>
            <a:rect r="r" b="b" t="t" l="l"/>
            <a:pathLst>
              <a:path h="1965160" w="3702520">
                <a:moveTo>
                  <a:pt x="0" y="0"/>
                </a:moveTo>
                <a:lnTo>
                  <a:pt x="3702520" y="0"/>
                </a:lnTo>
                <a:lnTo>
                  <a:pt x="3702520" y="1965160"/>
                </a:lnTo>
                <a:lnTo>
                  <a:pt x="0" y="1965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78188" y="1120188"/>
            <a:ext cx="3702520" cy="1965160"/>
          </a:xfrm>
          <a:custGeom>
            <a:avLst/>
            <a:gdLst/>
            <a:ahLst/>
            <a:cxnLst/>
            <a:rect r="r" b="b" t="t" l="l"/>
            <a:pathLst>
              <a:path h="1965160" w="3702520">
                <a:moveTo>
                  <a:pt x="0" y="0"/>
                </a:moveTo>
                <a:lnTo>
                  <a:pt x="3702520" y="0"/>
                </a:lnTo>
                <a:lnTo>
                  <a:pt x="3702520" y="1965160"/>
                </a:lnTo>
                <a:lnTo>
                  <a:pt x="0" y="19651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0108" y="3131868"/>
            <a:ext cx="3702520" cy="1965160"/>
          </a:xfrm>
          <a:custGeom>
            <a:avLst/>
            <a:gdLst/>
            <a:ahLst/>
            <a:cxnLst/>
            <a:rect r="r" b="b" t="t" l="l"/>
            <a:pathLst>
              <a:path h="1965160" w="3702520">
                <a:moveTo>
                  <a:pt x="0" y="0"/>
                </a:moveTo>
                <a:lnTo>
                  <a:pt x="3702520" y="0"/>
                </a:lnTo>
                <a:lnTo>
                  <a:pt x="3702520" y="1965160"/>
                </a:lnTo>
                <a:lnTo>
                  <a:pt x="0" y="19651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29148" y="3131868"/>
            <a:ext cx="3702520" cy="1965160"/>
          </a:xfrm>
          <a:custGeom>
            <a:avLst/>
            <a:gdLst/>
            <a:ahLst/>
            <a:cxnLst/>
            <a:rect r="r" b="b" t="t" l="l"/>
            <a:pathLst>
              <a:path h="1965160" w="3702520">
                <a:moveTo>
                  <a:pt x="0" y="0"/>
                </a:moveTo>
                <a:lnTo>
                  <a:pt x="3702520" y="0"/>
                </a:lnTo>
                <a:lnTo>
                  <a:pt x="3702520" y="1965160"/>
                </a:lnTo>
                <a:lnTo>
                  <a:pt x="0" y="19651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78188" y="3131868"/>
            <a:ext cx="3702520" cy="1965160"/>
          </a:xfrm>
          <a:custGeom>
            <a:avLst/>
            <a:gdLst/>
            <a:ahLst/>
            <a:cxnLst/>
            <a:rect r="r" b="b" t="t" l="l"/>
            <a:pathLst>
              <a:path h="1965160" w="3702520">
                <a:moveTo>
                  <a:pt x="0" y="0"/>
                </a:moveTo>
                <a:lnTo>
                  <a:pt x="3702520" y="0"/>
                </a:lnTo>
                <a:lnTo>
                  <a:pt x="3702520" y="1965160"/>
                </a:lnTo>
                <a:lnTo>
                  <a:pt x="0" y="19651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80196" y="1519923"/>
            <a:ext cx="296999" cy="296999"/>
            <a:chOff x="0" y="0"/>
            <a:chExt cx="395999" cy="39599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395986" cy="395986"/>
            </a:xfrm>
            <a:custGeom>
              <a:avLst/>
              <a:gdLst/>
              <a:ahLst/>
              <a:cxnLst/>
              <a:rect r="r" b="b" t="t" l="l"/>
              <a:pathLst>
                <a:path h="395986" w="395986">
                  <a:moveTo>
                    <a:pt x="0" y="0"/>
                  </a:moveTo>
                  <a:lnTo>
                    <a:pt x="395986" y="0"/>
                  </a:lnTo>
                  <a:lnTo>
                    <a:pt x="395986" y="395986"/>
                  </a:lnTo>
                  <a:lnTo>
                    <a:pt x="0" y="39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3" b="-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629236" y="1519923"/>
            <a:ext cx="296999" cy="296999"/>
            <a:chOff x="0" y="0"/>
            <a:chExt cx="395999" cy="395999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395986" cy="395986"/>
            </a:xfrm>
            <a:custGeom>
              <a:avLst/>
              <a:gdLst/>
              <a:ahLst/>
              <a:cxnLst/>
              <a:rect r="r" b="b" t="t" l="l"/>
              <a:pathLst>
                <a:path h="395986" w="395986">
                  <a:moveTo>
                    <a:pt x="0" y="0"/>
                  </a:moveTo>
                  <a:lnTo>
                    <a:pt x="395986" y="0"/>
                  </a:lnTo>
                  <a:lnTo>
                    <a:pt x="395986" y="395986"/>
                  </a:lnTo>
                  <a:lnTo>
                    <a:pt x="0" y="39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-3" b="-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378276" y="1519923"/>
            <a:ext cx="296999" cy="296999"/>
            <a:chOff x="0" y="0"/>
            <a:chExt cx="395999" cy="395999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395986" cy="395986"/>
            </a:xfrm>
            <a:custGeom>
              <a:avLst/>
              <a:gdLst/>
              <a:ahLst/>
              <a:cxnLst/>
              <a:rect r="r" b="b" t="t" l="l"/>
              <a:pathLst>
                <a:path h="395986" w="395986">
                  <a:moveTo>
                    <a:pt x="0" y="0"/>
                  </a:moveTo>
                  <a:lnTo>
                    <a:pt x="395986" y="0"/>
                  </a:lnTo>
                  <a:lnTo>
                    <a:pt x="395986" y="395986"/>
                  </a:lnTo>
                  <a:lnTo>
                    <a:pt x="0" y="39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3" b="-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80196" y="3531603"/>
            <a:ext cx="296999" cy="296999"/>
            <a:chOff x="0" y="0"/>
            <a:chExt cx="395999" cy="395999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395986" cy="395986"/>
            </a:xfrm>
            <a:custGeom>
              <a:avLst/>
              <a:gdLst/>
              <a:ahLst/>
              <a:cxnLst/>
              <a:rect r="r" b="b" t="t" l="l"/>
              <a:pathLst>
                <a:path h="395986" w="395986">
                  <a:moveTo>
                    <a:pt x="0" y="0"/>
                  </a:moveTo>
                  <a:lnTo>
                    <a:pt x="395986" y="0"/>
                  </a:lnTo>
                  <a:lnTo>
                    <a:pt x="395986" y="395986"/>
                  </a:lnTo>
                  <a:lnTo>
                    <a:pt x="0" y="39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3" b="-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629236" y="3531603"/>
            <a:ext cx="296999" cy="296999"/>
            <a:chOff x="0" y="0"/>
            <a:chExt cx="395999" cy="395999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395986" cy="395986"/>
            </a:xfrm>
            <a:custGeom>
              <a:avLst/>
              <a:gdLst/>
              <a:ahLst/>
              <a:cxnLst/>
              <a:rect r="r" b="b" t="t" l="l"/>
              <a:pathLst>
                <a:path h="395986" w="395986">
                  <a:moveTo>
                    <a:pt x="0" y="0"/>
                  </a:moveTo>
                  <a:lnTo>
                    <a:pt x="395986" y="0"/>
                  </a:lnTo>
                  <a:lnTo>
                    <a:pt x="395986" y="395986"/>
                  </a:lnTo>
                  <a:lnTo>
                    <a:pt x="0" y="39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-3" b="-3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378276" y="3531603"/>
            <a:ext cx="296999" cy="296999"/>
            <a:chOff x="0" y="0"/>
            <a:chExt cx="395999" cy="395999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395986" cy="395986"/>
            </a:xfrm>
            <a:custGeom>
              <a:avLst/>
              <a:gdLst/>
              <a:ahLst/>
              <a:cxnLst/>
              <a:rect r="r" b="b" t="t" l="l"/>
              <a:pathLst>
                <a:path h="395986" w="395986">
                  <a:moveTo>
                    <a:pt x="0" y="0"/>
                  </a:moveTo>
                  <a:lnTo>
                    <a:pt x="395986" y="0"/>
                  </a:lnTo>
                  <a:lnTo>
                    <a:pt x="395986" y="395986"/>
                  </a:lnTo>
                  <a:lnTo>
                    <a:pt x="0" y="39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-3" b="-3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476869" y="5688949"/>
            <a:ext cx="11234433" cy="600037"/>
          </a:xfrm>
          <a:custGeom>
            <a:avLst/>
            <a:gdLst/>
            <a:ahLst/>
            <a:cxnLst/>
            <a:rect r="r" b="b" t="t" l="l"/>
            <a:pathLst>
              <a:path h="600037" w="11234433">
                <a:moveTo>
                  <a:pt x="0" y="0"/>
                </a:moveTo>
                <a:lnTo>
                  <a:pt x="11234433" y="0"/>
                </a:lnTo>
                <a:lnTo>
                  <a:pt x="11234433" y="600037"/>
                </a:lnTo>
                <a:lnTo>
                  <a:pt x="0" y="60003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04524" y="6458626"/>
            <a:ext cx="65589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8640" y="305705"/>
            <a:ext cx="5357451" cy="60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Why Manual Review Is Difficult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08408" y="1505045"/>
            <a:ext cx="1654483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Distributed sources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08408" y="3516725"/>
            <a:ext cx="1748095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Repeated inspection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57448" y="3516725"/>
            <a:ext cx="1525257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Missing metadata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57448" y="1505045"/>
            <a:ext cx="2078622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Inconsistent field names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06488" y="1505045"/>
            <a:ext cx="1650759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Names can mislead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006488" y="3516725"/>
            <a:ext cx="2165594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Reviewers need evidence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6888" y="2081994"/>
            <a:ext cx="3239424" cy="42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Data lives in several files and databases, so one review means many places.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76888" y="4093674"/>
            <a:ext cx="3275324" cy="42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Large datasets need repeated manual checks as data changes.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525928" y="4093674"/>
            <a:ext cx="2844184" cy="42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Purpose and retention may be blank, and nobody notices.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525928" y="2081994"/>
            <a:ext cx="2917841" cy="42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cust_mail, email_addr and EmailID may all mean the same thing.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274968" y="4093674"/>
            <a:ext cx="2832392" cy="42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A flag without a reason is hard to trust or challenge.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274968" y="2081994"/>
            <a:ext cx="3294364" cy="42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A column called "email_status" may not contain email addresses at all.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48288" y="5299929"/>
            <a:ext cx="5797744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i="true">
                <a:solidFill>
                  <a:srgbClr val="9FB0C8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We do not claim measured time or cost savings; none have been benchmarked.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446563" y="5828586"/>
            <a:ext cx="7430653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Takeaway: reviewers need consistent, explainable evidence - not just a list of column names.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108" y="1120188"/>
            <a:ext cx="6537160" cy="5074120"/>
          </a:xfrm>
          <a:custGeom>
            <a:avLst/>
            <a:gdLst/>
            <a:ahLst/>
            <a:cxnLst/>
            <a:rect r="r" b="b" t="t" l="l"/>
            <a:pathLst>
              <a:path h="5074120" w="6537160">
                <a:moveTo>
                  <a:pt x="0" y="0"/>
                </a:moveTo>
                <a:lnTo>
                  <a:pt x="6537160" y="0"/>
                </a:lnTo>
                <a:lnTo>
                  <a:pt x="6537160" y="5074120"/>
                </a:lnTo>
                <a:lnTo>
                  <a:pt x="0" y="5074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55228" y="1120188"/>
            <a:ext cx="4552836" cy="5074120"/>
          </a:xfrm>
          <a:custGeom>
            <a:avLst/>
            <a:gdLst/>
            <a:ahLst/>
            <a:cxnLst/>
            <a:rect r="r" b="b" t="t" l="l"/>
            <a:pathLst>
              <a:path h="5074120" w="4552836">
                <a:moveTo>
                  <a:pt x="0" y="0"/>
                </a:moveTo>
                <a:lnTo>
                  <a:pt x="4552835" y="0"/>
                </a:lnTo>
                <a:lnTo>
                  <a:pt x="4552835" y="5074120"/>
                </a:lnTo>
                <a:lnTo>
                  <a:pt x="0" y="5074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77240" y="1325509"/>
            <a:ext cx="365408" cy="365408"/>
            <a:chOff x="0" y="0"/>
            <a:chExt cx="487210" cy="48721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487172" cy="487172"/>
            </a:xfrm>
            <a:custGeom>
              <a:avLst/>
              <a:gdLst/>
              <a:ahLst/>
              <a:cxnLst/>
              <a:rect r="r" b="b" t="t" l="l"/>
              <a:pathLst>
                <a:path h="487172" w="487172">
                  <a:moveTo>
                    <a:pt x="0" y="0"/>
                  </a:moveTo>
                  <a:lnTo>
                    <a:pt x="487172" y="0"/>
                  </a:lnTo>
                  <a:lnTo>
                    <a:pt x="487172" y="487172"/>
                  </a:lnTo>
                  <a:lnTo>
                    <a:pt x="0" y="487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7" b="-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452360" y="1325509"/>
            <a:ext cx="365408" cy="365408"/>
            <a:chOff x="0" y="0"/>
            <a:chExt cx="487210" cy="48721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487172" cy="487172"/>
            </a:xfrm>
            <a:custGeom>
              <a:avLst/>
              <a:gdLst/>
              <a:ahLst/>
              <a:cxnLst/>
              <a:rect r="r" b="b" t="t" l="l"/>
              <a:pathLst>
                <a:path h="487172" w="487172">
                  <a:moveTo>
                    <a:pt x="0" y="0"/>
                  </a:moveTo>
                  <a:lnTo>
                    <a:pt x="487172" y="0"/>
                  </a:lnTo>
                  <a:lnTo>
                    <a:pt x="487172" y="487172"/>
                  </a:lnTo>
                  <a:lnTo>
                    <a:pt x="0" y="487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7" b="-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04524" y="6458626"/>
            <a:ext cx="65589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8640" y="305705"/>
            <a:ext cx="3658143" cy="60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Objectives and Scope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3900" y="1264320"/>
            <a:ext cx="58588" cy="38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01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9808" y="1264320"/>
            <a:ext cx="885854" cy="38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01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In</a:t>
            </a:r>
            <a:r>
              <a:rPr lang="en-US" b="true" sz="200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  <a:r>
              <a:rPr lang="en-US" b="true" sz="2001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scope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6888" y="1741027"/>
            <a:ext cx="5497535" cy="31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1"/>
              </a:lnSpc>
            </a:pPr>
            <a:r>
              <a:rPr lang="en-US" sz="17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  <a:p>
            <a:pPr algn="l">
              <a:lnSpc>
                <a:spcPts val="3141"/>
              </a:lnSpc>
            </a:pPr>
            <a:r>
              <a:rPr lang="en-US" sz="17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•Scan a structured SQL database</a:t>
            </a:r>
          </a:p>
          <a:p>
            <a:pPr algn="l">
              <a:lnSpc>
                <a:spcPts val="3141"/>
              </a:lnSpc>
            </a:pPr>
            <a:r>
              <a:rPr lang="en-US" sz="17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•Detect candidates across five configurable classes</a:t>
            </a:r>
          </a:p>
          <a:p>
            <a:pPr algn="l">
              <a:lnSpc>
                <a:spcPts val="3141"/>
              </a:lnSpc>
            </a:pPr>
            <a:r>
              <a:rPr lang="en-US" sz="17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•Use explainable rules and confidence scoring</a:t>
            </a:r>
          </a:p>
          <a:p>
            <a:pPr algn="l">
              <a:lnSpc>
                <a:spcPts val="3141"/>
              </a:lnSpc>
            </a:pPr>
            <a:r>
              <a:rPr lang="en-US" sz="17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•Map findings to declared purpose and retention</a:t>
            </a:r>
          </a:p>
          <a:p>
            <a:pPr algn="l">
              <a:lnSpc>
                <a:spcPts val="3141"/>
              </a:lnSpc>
            </a:pPr>
            <a:r>
              <a:rPr lang="en-US" sz="17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•Flag missing metadata</a:t>
            </a:r>
          </a:p>
          <a:p>
            <a:pPr algn="l">
              <a:lnSpc>
                <a:spcPts val="3141"/>
              </a:lnSpc>
            </a:pPr>
            <a:r>
              <a:rPr lang="en-US" sz="17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•Generate CSV and JSON reports</a:t>
            </a:r>
          </a:p>
          <a:p>
            <a:pPr algn="l">
              <a:lnSpc>
                <a:spcPts val="3141"/>
              </a:lnSpc>
            </a:pPr>
            <a:r>
              <a:rPr lang="en-US" sz="17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•Evaluate predictions against manually labelled ground truth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54928" y="1264320"/>
            <a:ext cx="1362094" cy="38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01">
                <a:solidFill>
                  <a:srgbClr val="F87171"/>
                </a:solidFill>
                <a:latin typeface="Carlito Bold"/>
                <a:ea typeface="Carlito Bold"/>
                <a:cs typeface="Carlito Bold"/>
                <a:sym typeface="Carlito Bold"/>
              </a:rPr>
              <a:t>Out of scope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96191" y="1817227"/>
            <a:ext cx="49797" cy="32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sz="17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52360" y="1769345"/>
            <a:ext cx="78210" cy="168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0"/>
              </a:lnSpc>
            </a:pPr>
            <a:r>
              <a:rPr lang="en-US" sz="1700" spc="-3">
                <a:solidFill>
                  <a:srgbClr val="E8EEF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 • • •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52360" y="3881476"/>
            <a:ext cx="78210" cy="272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sz="1700" spc="-3">
                <a:solidFill>
                  <a:srgbClr val="E8EEF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6888" y="1791986"/>
            <a:ext cx="2261235" cy="37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sz="17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•Scan syntheticCSV files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30201" y="1817227"/>
            <a:ext cx="3342942" cy="32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sz="17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Automatic legalcompliance decisions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30201" y="2282828"/>
            <a:ext cx="3673431" cy="212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Automatic lawful-basis determination Universal data-flow discovery Guaranteed identification of every personal-data field</a:t>
            </a:r>
          </a:p>
          <a:p>
            <a:pPr algn="l">
              <a:lnSpc>
                <a:spcPts val="2040"/>
              </a:lnSpc>
              <a:spcBef>
                <a:spcPts val="1399"/>
              </a:spcBef>
            </a:pPr>
            <a:r>
              <a:rPr lang="en-US" sz="17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Production-scale scanning claims (unless actually tested)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108" y="1120188"/>
            <a:ext cx="2239480" cy="4616920"/>
          </a:xfrm>
          <a:custGeom>
            <a:avLst/>
            <a:gdLst/>
            <a:ahLst/>
            <a:cxnLst/>
            <a:rect r="r" b="b" t="t" l="l"/>
            <a:pathLst>
              <a:path h="4616920" w="2239480">
                <a:moveTo>
                  <a:pt x="0" y="0"/>
                </a:moveTo>
                <a:lnTo>
                  <a:pt x="2239480" y="0"/>
                </a:lnTo>
                <a:lnTo>
                  <a:pt x="2239480" y="4616920"/>
                </a:lnTo>
                <a:lnTo>
                  <a:pt x="0" y="4616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20388" y="1120188"/>
            <a:ext cx="2239480" cy="4616920"/>
          </a:xfrm>
          <a:custGeom>
            <a:avLst/>
            <a:gdLst/>
            <a:ahLst/>
            <a:cxnLst/>
            <a:rect r="r" b="b" t="t" l="l"/>
            <a:pathLst>
              <a:path h="4616920" w="2239480">
                <a:moveTo>
                  <a:pt x="0" y="0"/>
                </a:moveTo>
                <a:lnTo>
                  <a:pt x="2239480" y="0"/>
                </a:lnTo>
                <a:lnTo>
                  <a:pt x="2239480" y="4616920"/>
                </a:lnTo>
                <a:lnTo>
                  <a:pt x="0" y="46169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60668" y="1120188"/>
            <a:ext cx="2239480" cy="4616920"/>
          </a:xfrm>
          <a:custGeom>
            <a:avLst/>
            <a:gdLst/>
            <a:ahLst/>
            <a:cxnLst/>
            <a:rect r="r" b="b" t="t" l="l"/>
            <a:pathLst>
              <a:path h="4616920" w="2239480">
                <a:moveTo>
                  <a:pt x="0" y="0"/>
                </a:moveTo>
                <a:lnTo>
                  <a:pt x="2239480" y="0"/>
                </a:lnTo>
                <a:lnTo>
                  <a:pt x="2239480" y="4616920"/>
                </a:lnTo>
                <a:lnTo>
                  <a:pt x="0" y="46169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00948" y="1120188"/>
            <a:ext cx="2239480" cy="4616920"/>
          </a:xfrm>
          <a:custGeom>
            <a:avLst/>
            <a:gdLst/>
            <a:ahLst/>
            <a:cxnLst/>
            <a:rect r="r" b="b" t="t" l="l"/>
            <a:pathLst>
              <a:path h="4616920" w="2239480">
                <a:moveTo>
                  <a:pt x="0" y="0"/>
                </a:moveTo>
                <a:lnTo>
                  <a:pt x="2239480" y="0"/>
                </a:lnTo>
                <a:lnTo>
                  <a:pt x="2239480" y="4616920"/>
                </a:lnTo>
                <a:lnTo>
                  <a:pt x="0" y="46169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41228" y="1120188"/>
            <a:ext cx="2239480" cy="4616920"/>
          </a:xfrm>
          <a:custGeom>
            <a:avLst/>
            <a:gdLst/>
            <a:ahLst/>
            <a:cxnLst/>
            <a:rect r="r" b="b" t="t" l="l"/>
            <a:pathLst>
              <a:path h="4616920" w="2239480">
                <a:moveTo>
                  <a:pt x="0" y="0"/>
                </a:moveTo>
                <a:lnTo>
                  <a:pt x="2239480" y="0"/>
                </a:lnTo>
                <a:lnTo>
                  <a:pt x="2239480" y="4616920"/>
                </a:lnTo>
                <a:lnTo>
                  <a:pt x="0" y="4616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33160" y="1496873"/>
            <a:ext cx="342719" cy="342719"/>
            <a:chOff x="0" y="0"/>
            <a:chExt cx="456959" cy="45695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456946" cy="456946"/>
            </a:xfrm>
            <a:custGeom>
              <a:avLst/>
              <a:gdLst/>
              <a:ahLst/>
              <a:cxnLst/>
              <a:rect r="r" b="b" t="t" l="l"/>
              <a:pathLst>
                <a:path h="456946" w="456946">
                  <a:moveTo>
                    <a:pt x="0" y="0"/>
                  </a:moveTo>
                  <a:lnTo>
                    <a:pt x="456946" y="0"/>
                  </a:lnTo>
                  <a:lnTo>
                    <a:pt x="456946" y="456946"/>
                  </a:lnTo>
                  <a:lnTo>
                    <a:pt x="0" y="456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-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673440" y="1496873"/>
            <a:ext cx="342719" cy="342719"/>
            <a:chOff x="0" y="0"/>
            <a:chExt cx="456959" cy="456959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456946" cy="456946"/>
            </a:xfrm>
            <a:custGeom>
              <a:avLst/>
              <a:gdLst/>
              <a:ahLst/>
              <a:cxnLst/>
              <a:rect r="r" b="b" t="t" l="l"/>
              <a:pathLst>
                <a:path h="456946" w="456946">
                  <a:moveTo>
                    <a:pt x="0" y="0"/>
                  </a:moveTo>
                  <a:lnTo>
                    <a:pt x="456946" y="0"/>
                  </a:lnTo>
                  <a:lnTo>
                    <a:pt x="456946" y="456946"/>
                  </a:lnTo>
                  <a:lnTo>
                    <a:pt x="0" y="456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2" b="-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913720" y="1496873"/>
            <a:ext cx="342719" cy="342719"/>
            <a:chOff x="0" y="0"/>
            <a:chExt cx="456959" cy="456959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456946" cy="456946"/>
            </a:xfrm>
            <a:custGeom>
              <a:avLst/>
              <a:gdLst/>
              <a:ahLst/>
              <a:cxnLst/>
              <a:rect r="r" b="b" t="t" l="l"/>
              <a:pathLst>
                <a:path h="456946" w="456946">
                  <a:moveTo>
                    <a:pt x="0" y="0"/>
                  </a:moveTo>
                  <a:lnTo>
                    <a:pt x="456946" y="0"/>
                  </a:lnTo>
                  <a:lnTo>
                    <a:pt x="456946" y="456946"/>
                  </a:lnTo>
                  <a:lnTo>
                    <a:pt x="0" y="456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2" b="-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154000" y="1496873"/>
            <a:ext cx="342719" cy="342719"/>
            <a:chOff x="0" y="0"/>
            <a:chExt cx="456959" cy="456959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56946" cy="456946"/>
            </a:xfrm>
            <a:custGeom>
              <a:avLst/>
              <a:gdLst/>
              <a:ahLst/>
              <a:cxnLst/>
              <a:rect r="r" b="b" t="t" l="l"/>
              <a:pathLst>
                <a:path h="456946" w="456946">
                  <a:moveTo>
                    <a:pt x="0" y="0"/>
                  </a:moveTo>
                  <a:lnTo>
                    <a:pt x="456946" y="0"/>
                  </a:lnTo>
                  <a:lnTo>
                    <a:pt x="456946" y="456946"/>
                  </a:lnTo>
                  <a:lnTo>
                    <a:pt x="0" y="456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-2" b="-2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394280" y="1496873"/>
            <a:ext cx="342719" cy="342719"/>
            <a:chOff x="0" y="0"/>
            <a:chExt cx="456959" cy="456959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456946" cy="456946"/>
            </a:xfrm>
            <a:custGeom>
              <a:avLst/>
              <a:gdLst/>
              <a:ahLst/>
              <a:cxnLst/>
              <a:rect r="r" b="b" t="t" l="l"/>
              <a:pathLst>
                <a:path h="456946" w="456946">
                  <a:moveTo>
                    <a:pt x="0" y="0"/>
                  </a:moveTo>
                  <a:lnTo>
                    <a:pt x="456946" y="0"/>
                  </a:lnTo>
                  <a:lnTo>
                    <a:pt x="456946" y="456946"/>
                  </a:lnTo>
                  <a:lnTo>
                    <a:pt x="0" y="456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2" b="-2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476869" y="5734669"/>
            <a:ext cx="11234433" cy="600037"/>
          </a:xfrm>
          <a:custGeom>
            <a:avLst/>
            <a:gdLst/>
            <a:ahLst/>
            <a:cxnLst/>
            <a:rect r="r" b="b" t="t" l="l"/>
            <a:pathLst>
              <a:path h="600037" w="11234433">
                <a:moveTo>
                  <a:pt x="0" y="0"/>
                </a:moveTo>
                <a:lnTo>
                  <a:pt x="11234433" y="0"/>
                </a:lnTo>
                <a:lnTo>
                  <a:pt x="11234433" y="600037"/>
                </a:lnTo>
                <a:lnTo>
                  <a:pt x="0" y="60003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85448" y="2520201"/>
            <a:ext cx="893064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EXAMPLE FIELDS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2963" y="2738628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5448" y="3480321"/>
            <a:ext cx="103266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DETECTION SIGNAL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7123" y="3698386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5448" y="4394721"/>
            <a:ext cx="1191701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WHY HUMAN REVIEW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2911" y="4613148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25728" y="2520201"/>
            <a:ext cx="893064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EXAMPLE FIELDS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302784" y="2738628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25728" y="3480321"/>
            <a:ext cx="103266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DETECTION SIGNAL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519945" y="3698386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25728" y="4413771"/>
            <a:ext cx="1875158" cy="806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1"/>
              </a:lnSpc>
            </a:pPr>
            <a:r>
              <a:rPr lang="en-US" b="true" sz="1000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WHY HUMAN REVIEW</a:t>
            </a:r>
          </a:p>
          <a:p>
            <a:pPr algn="l">
              <a:lnSpc>
                <a:spcPts val="1440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Flags such as email_status look similar but may not hold addresses.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66008" y="2520201"/>
            <a:ext cx="893064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EXAMPLE FIELDS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11029" y="2738628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66008" y="3480321"/>
            <a:ext cx="103266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DETECTION SIGNAL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617683" y="3698386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66008" y="4394721"/>
            <a:ext cx="1191701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WHY HUMAN REVIEW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252656" y="4613148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406288" y="2520201"/>
            <a:ext cx="893064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EXAMPLE FIELDS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95679" y="2738628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06288" y="3480321"/>
            <a:ext cx="103266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DETECTION SIGNAL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857963" y="3698386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406288" y="4375671"/>
            <a:ext cx="1191701" cy="47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b="true" sz="1000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WHY HUMAN REVIEW</a:t>
            </a:r>
          </a:p>
          <a:p>
            <a:pPr algn="ctr">
              <a:lnSpc>
                <a:spcPts val="199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46568" y="2520201"/>
            <a:ext cx="893064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EXAMPLE FIELDS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000783" y="2738628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646568" y="3480321"/>
            <a:ext cx="103266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DETECTION SIGNAL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071135" y="3698386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646568" y="4394721"/>
            <a:ext cx="1191701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WHY HUMAN REVIEW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577941" y="4613148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504524" y="6458626"/>
            <a:ext cx="65589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7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48640" y="305705"/>
            <a:ext cx="4525413" cy="60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Five Personal-Data Classes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71883" y="2038560"/>
            <a:ext cx="667883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Identity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516849" y="2038560"/>
            <a:ext cx="657939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Contact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725792" y="2038560"/>
            <a:ext cx="722767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A78BFA"/>
                </a:solidFill>
                <a:latin typeface="Carlito Bold"/>
                <a:ea typeface="Carlito Bold"/>
                <a:cs typeface="Carlito Bold"/>
                <a:sym typeface="Carlito Bold"/>
              </a:rPr>
              <a:t>Location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948432" y="2038560"/>
            <a:ext cx="757971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Financial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816122" y="2038560"/>
            <a:ext cx="1515732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F87171"/>
                </a:solidFill>
                <a:latin typeface="Carlito Bold"/>
                <a:ea typeface="Carlito Bold"/>
                <a:cs typeface="Carlito Bold"/>
                <a:sym typeface="Carlito Bold"/>
              </a:rPr>
              <a:t>Sensitive / Health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85448" y="2738628"/>
            <a:ext cx="162227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name, fullname, identity-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85448" y="2921508"/>
            <a:ext cx="817512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related fields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85448" y="3717436"/>
            <a:ext cx="1844250" cy="40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Headertermsplus name-like values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85448" y="4613148"/>
            <a:ext cx="1681001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Namesalsoappear in non-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85448" y="4815078"/>
            <a:ext cx="1830429" cy="40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personal contexts (company, product).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925728" y="2738628"/>
            <a:ext cx="823103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email,</a:t>
            </a:r>
            <a:r>
              <a:rPr lang="en-US" sz="11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phone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925728" y="3717436"/>
            <a:ext cx="1881997" cy="40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Email-likeorphone-like value patterns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166008" y="4613148"/>
            <a:ext cx="1583141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Acity alonemayidentify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166008" y="4796028"/>
            <a:ext cx="138244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little; context decides.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166008" y="3717436"/>
            <a:ext cx="1822352" cy="40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Headertermsplus place-like values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166008" y="2738628"/>
            <a:ext cx="1821418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city,postalcode, coordinates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406288" y="2738628"/>
            <a:ext cx="1495530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salary,account-related, 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406288" y="2921508"/>
            <a:ext cx="155129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transaction financial info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406288" y="4613148"/>
            <a:ext cx="172293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Amountsmaynotrelate to 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406288" y="4796028"/>
            <a:ext cx="842515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an individual.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406288" y="3698386"/>
            <a:ext cx="1744990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Headerterms plus numeric 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406288" y="3881266"/>
            <a:ext cx="1358522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or account-like values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646568" y="2757678"/>
            <a:ext cx="1770307" cy="40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bloodgroup,health-related fields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646568" y="4613148"/>
            <a:ext cx="1771555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Highest-impactclass; needs 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646568" y="4796028"/>
            <a:ext cx="1048950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careful handling.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646568" y="3717436"/>
            <a:ext cx="1860099" cy="40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Knownvaluesets such as A+, O+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989363" y="5874306"/>
            <a:ext cx="8363617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Classification depends on the configured rules and the available evidence. Signals shown are illustrative.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869" y="1623460"/>
            <a:ext cx="11234433" cy="4528366"/>
          </a:xfrm>
          <a:custGeom>
            <a:avLst/>
            <a:gdLst/>
            <a:ahLst/>
            <a:cxnLst/>
            <a:rect r="r" b="b" t="t" l="l"/>
            <a:pathLst>
              <a:path h="4528366" w="11234433">
                <a:moveTo>
                  <a:pt x="0" y="0"/>
                </a:moveTo>
                <a:lnTo>
                  <a:pt x="11234433" y="0"/>
                </a:lnTo>
                <a:lnTo>
                  <a:pt x="11234433" y="4528366"/>
                </a:lnTo>
                <a:lnTo>
                  <a:pt x="0" y="4528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504524" y="6458626"/>
            <a:ext cx="65589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8640" y="305705"/>
            <a:ext cx="7053024" cy="60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Proposed Solution: End-to-End Workflow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4016" y="1029872"/>
            <a:ext cx="46806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sz="1598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9808" y="4061403"/>
            <a:ext cx="1209437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Flag uncertain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14448" y="4061403"/>
            <a:ext cx="1263491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Map metadata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8288" y="1029872"/>
            <a:ext cx="6069509" cy="311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sz="1598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A rule-based Personal Data Discovery and Privacy Evidence Inventory tool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9808" y="1912563"/>
            <a:ext cx="1122045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Read sources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14448" y="1912563"/>
            <a:ext cx="619420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Inspect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1721" y="1926517"/>
            <a:ext cx="91783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6888" y="2510828"/>
            <a:ext cx="924030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CSV and SQL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1721" y="4075357"/>
            <a:ext cx="91783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6888" y="4659668"/>
            <a:ext cx="1581760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candidates for review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26361" y="1926517"/>
            <a:ext cx="91783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11528" y="2510828"/>
            <a:ext cx="1460411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schemas and values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26361" y="4075357"/>
            <a:ext cx="91783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11528" y="4659668"/>
            <a:ext cx="1652683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purpose and retention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61001" y="1926517"/>
            <a:ext cx="91783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49088" y="1912563"/>
            <a:ext cx="962168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Apply rules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46168" y="2510828"/>
            <a:ext cx="1660303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configurable detection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61001" y="4075357"/>
            <a:ext cx="189738" cy="307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7</a:t>
            </a:r>
            <a:r>
              <a:rPr lang="en-US" b="true" sz="140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49088" y="4061403"/>
            <a:ext cx="583597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Report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46168" y="4659668"/>
            <a:ext cx="1902828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inventory and gap reports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95641" y="1926517"/>
            <a:ext cx="189738" cy="307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4</a:t>
            </a:r>
            <a:r>
              <a:rPr lang="en-US" b="true" sz="140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83728" y="1912563"/>
            <a:ext cx="468868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Score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80808" y="2510828"/>
            <a:ext cx="1830638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evidence and confidence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95641" y="4075357"/>
            <a:ext cx="189738" cy="307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8</a:t>
            </a:r>
            <a:r>
              <a:rPr lang="en-US" b="true" sz="140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83728" y="4061403"/>
            <a:ext cx="726491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Evaluate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80808" y="4659668"/>
            <a:ext cx="2003327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predictions vs ground truth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236033" y="5691426"/>
            <a:ext cx="5821718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Every flagged field carries evidence, a confidence level and a review flag.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8488" y="5782008"/>
            <a:ext cx="5900318" cy="413918"/>
          </a:xfrm>
          <a:custGeom>
            <a:avLst/>
            <a:gdLst/>
            <a:ahLst/>
            <a:cxnLst/>
            <a:rect r="r" b="b" t="t" l="l"/>
            <a:pathLst>
              <a:path h="413918" w="5900318">
                <a:moveTo>
                  <a:pt x="0" y="0"/>
                </a:moveTo>
                <a:lnTo>
                  <a:pt x="5900319" y="0"/>
                </a:lnTo>
                <a:lnTo>
                  <a:pt x="5900319" y="413919"/>
                </a:lnTo>
                <a:lnTo>
                  <a:pt x="0" y="4139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6869" y="4683109"/>
            <a:ext cx="7366597" cy="965797"/>
          </a:xfrm>
          <a:custGeom>
            <a:avLst/>
            <a:gdLst/>
            <a:ahLst/>
            <a:cxnLst/>
            <a:rect r="r" b="b" t="t" l="l"/>
            <a:pathLst>
              <a:path h="965797" w="7366597">
                <a:moveTo>
                  <a:pt x="0" y="0"/>
                </a:moveTo>
                <a:lnTo>
                  <a:pt x="7366597" y="0"/>
                </a:lnTo>
                <a:lnTo>
                  <a:pt x="7366597" y="965797"/>
                </a:lnTo>
                <a:lnTo>
                  <a:pt x="0" y="9657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57820" y="4683109"/>
            <a:ext cx="3617557" cy="965797"/>
          </a:xfrm>
          <a:custGeom>
            <a:avLst/>
            <a:gdLst/>
            <a:ahLst/>
            <a:cxnLst/>
            <a:rect r="r" b="b" t="t" l="l"/>
            <a:pathLst>
              <a:path h="965797" w="3617557">
                <a:moveTo>
                  <a:pt x="0" y="0"/>
                </a:moveTo>
                <a:lnTo>
                  <a:pt x="3617556" y="0"/>
                </a:lnTo>
                <a:lnTo>
                  <a:pt x="3617556" y="965797"/>
                </a:lnTo>
                <a:lnTo>
                  <a:pt x="0" y="9657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76869" y="1116949"/>
            <a:ext cx="11298879" cy="3251797"/>
          </a:xfrm>
          <a:custGeom>
            <a:avLst/>
            <a:gdLst/>
            <a:ahLst/>
            <a:cxnLst/>
            <a:rect r="r" b="b" t="t" l="l"/>
            <a:pathLst>
              <a:path h="3251797" w="11298879">
                <a:moveTo>
                  <a:pt x="0" y="0"/>
                </a:moveTo>
                <a:lnTo>
                  <a:pt x="11298879" y="0"/>
                </a:lnTo>
                <a:lnTo>
                  <a:pt x="11298879" y="3251797"/>
                </a:lnTo>
                <a:lnTo>
                  <a:pt x="0" y="32517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69200" y="5872163"/>
            <a:ext cx="801424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IMPLEMENTED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78366" y="5872163"/>
            <a:ext cx="714194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IN PROGRESS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12116" y="5872163"/>
            <a:ext cx="1187558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A78BFA"/>
                </a:solidFill>
                <a:latin typeface="Carlito Bold"/>
                <a:ea typeface="Carlito Bold"/>
                <a:cs typeface="Carlito Bold"/>
                <a:sym typeface="Carlito Bold"/>
              </a:rPr>
              <a:t>PLANNED / OPTIONAL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27099" y="3579638"/>
            <a:ext cx="40996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10768" y="3816925"/>
            <a:ext cx="1598962" cy="33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1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source_type + source_name + field_name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04524" y="6458626"/>
            <a:ext cx="65589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8640" y="305705"/>
            <a:ext cx="3451269" cy="60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System Architecture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9125" y="1316669"/>
            <a:ext cx="917638" cy="43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</a:p>
          <a:p>
            <a:pPr algn="ctr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synthetic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inputs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7008" y="1316669"/>
            <a:ext cx="637604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CSV</a:t>
            </a:r>
            <a:r>
              <a:rPr lang="en-US" b="true" sz="140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files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8682" y="4928549"/>
            <a:ext cx="1304725" cy="43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Ground Truth</a:t>
            </a:r>
          </a:p>
          <a:p>
            <a:pPr algn="ctr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data/ground_truth.csv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4402" y="2322509"/>
            <a:ext cx="1212447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SQLite database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89945" y="2541318"/>
            <a:ext cx="32194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90366" y="1316669"/>
            <a:ext cx="955815" cy="43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CSV</a:t>
            </a:r>
            <a:r>
              <a:rPr lang="en-US" b="true" sz="140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Scanner</a:t>
            </a:r>
          </a:p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Python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|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Pandas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60035" y="2322509"/>
            <a:ext cx="1221095" cy="43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SQL Scanner</a:t>
            </a:r>
          </a:p>
          <a:p>
            <a:pPr algn="ctr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SQLAlchemy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|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SQLite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64838" y="2541318"/>
            <a:ext cx="32194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24314" y="4928549"/>
            <a:ext cx="1497340" cy="43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Evaluation Module</a:t>
            </a:r>
          </a:p>
          <a:p>
            <a:pPr algn="ctr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per-class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precision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/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recall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921833" y="5147358"/>
            <a:ext cx="32194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76432" y="3648389"/>
            <a:ext cx="1597181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Gap Report + Exports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62822" y="3867198"/>
            <a:ext cx="32194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16676" y="3648389"/>
            <a:ext cx="1434113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Evidence Inventory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23142" y="3867198"/>
            <a:ext cx="32194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991482" y="4928549"/>
            <a:ext cx="1483804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Scanner Predictions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321181" y="5147358"/>
            <a:ext cx="32194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05076" y="3579638"/>
            <a:ext cx="1376972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Metadata</a:t>
            </a:r>
            <a:r>
              <a:rPr lang="en-US" b="true" sz="140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Mapper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735406" y="4928549"/>
            <a:ext cx="2508694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FastAPI + HTML / CSS / JavaScript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25286" y="5147358"/>
            <a:ext cx="32194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8004" y="2541318"/>
            <a:ext cx="1020499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structured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source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846605" y="3867198"/>
            <a:ext cx="638261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CSV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/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JSON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406925" y="3867198"/>
            <a:ext cx="638261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CSV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/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JSON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047280" y="5147358"/>
            <a:ext cx="1370686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from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candidate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findings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054722" y="5147358"/>
            <a:ext cx="1855794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optionalAPI-basedUI - notbuilt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491888" y="5783942"/>
            <a:ext cx="5081540" cy="36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099" i="true">
                <a:solidFill>
                  <a:srgbClr val="9FB0C8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Status follows the project brief; confirm against the repository before presenting. Pytest covers the scanner.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752443" y="1812779"/>
            <a:ext cx="1971980" cy="448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b="true" sz="1499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Shared Detection Engine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532000" y="1812779"/>
            <a:ext cx="1524238" cy="448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b="true" sz="1499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Candidate Findings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823762" y="3654438"/>
            <a:ext cx="664045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Metadata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878474" y="3837318"/>
            <a:ext cx="517093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Registry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2260" y="1122340"/>
            <a:ext cx="5802049" cy="3424609"/>
          </a:xfrm>
          <a:custGeom>
            <a:avLst/>
            <a:gdLst/>
            <a:ahLst/>
            <a:cxnLst/>
            <a:rect r="r" b="b" t="t" l="l"/>
            <a:pathLst>
              <a:path h="3424609" w="5802049">
                <a:moveTo>
                  <a:pt x="0" y="0"/>
                </a:moveTo>
                <a:lnTo>
                  <a:pt x="5802049" y="0"/>
                </a:lnTo>
                <a:lnTo>
                  <a:pt x="5802049" y="3424609"/>
                </a:lnTo>
                <a:lnTo>
                  <a:pt x="0" y="3424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23708" y="1120540"/>
            <a:ext cx="5284356" cy="2193760"/>
          </a:xfrm>
          <a:custGeom>
            <a:avLst/>
            <a:gdLst/>
            <a:ahLst/>
            <a:cxnLst/>
            <a:rect r="r" b="b" t="t" l="l"/>
            <a:pathLst>
              <a:path h="2193760" w="5284356">
                <a:moveTo>
                  <a:pt x="0" y="0"/>
                </a:moveTo>
                <a:lnTo>
                  <a:pt x="5284355" y="0"/>
                </a:lnTo>
                <a:lnTo>
                  <a:pt x="5284355" y="2193760"/>
                </a:lnTo>
                <a:lnTo>
                  <a:pt x="0" y="21937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82408" y="432768"/>
            <a:ext cx="2699918" cy="413918"/>
          </a:xfrm>
          <a:custGeom>
            <a:avLst/>
            <a:gdLst/>
            <a:ahLst/>
            <a:cxnLst/>
            <a:rect r="r" b="b" t="t" l="l"/>
            <a:pathLst>
              <a:path h="413918" w="2699918">
                <a:moveTo>
                  <a:pt x="0" y="0"/>
                </a:moveTo>
                <a:lnTo>
                  <a:pt x="2699919" y="0"/>
                </a:lnTo>
                <a:lnTo>
                  <a:pt x="2699919" y="413919"/>
                </a:lnTo>
                <a:lnTo>
                  <a:pt x="0" y="4139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23708" y="3360820"/>
            <a:ext cx="5284356" cy="2468080"/>
          </a:xfrm>
          <a:custGeom>
            <a:avLst/>
            <a:gdLst/>
            <a:ahLst/>
            <a:cxnLst/>
            <a:rect r="r" b="b" t="t" l="l"/>
            <a:pathLst>
              <a:path h="2468080" w="5284356">
                <a:moveTo>
                  <a:pt x="0" y="0"/>
                </a:moveTo>
                <a:lnTo>
                  <a:pt x="5284355" y="0"/>
                </a:lnTo>
                <a:lnTo>
                  <a:pt x="5284355" y="2468080"/>
                </a:lnTo>
                <a:lnTo>
                  <a:pt x="0" y="24680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05679" y="5277803"/>
            <a:ext cx="1266758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ILLUSTRATIVE EXAMPLE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84998" y="522923"/>
            <a:ext cx="1523400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VERIFY BEFORE PRESENTING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40439" y="6458626"/>
            <a:ext cx="131045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10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8640" y="305705"/>
            <a:ext cx="6075893" cy="60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Data Sources and Synthetic Dataset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4602" y="1104814"/>
            <a:ext cx="1534601" cy="326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b="true" sz="1301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Source</a:t>
            </a:r>
          </a:p>
          <a:p>
            <a:pPr algn="l">
              <a:lnSpc>
                <a:spcPts val="3239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customers.csv employees.csv transactions.csv customers</a:t>
            </a:r>
          </a:p>
          <a:p>
            <a:pPr algn="l">
              <a:lnSpc>
                <a:spcPts val="3239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employees transactions data/ground_truth.csv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02042" y="1104814"/>
            <a:ext cx="818788" cy="326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9"/>
              </a:lnSpc>
            </a:pPr>
            <a:r>
              <a:rPr lang="en-US" b="true" sz="1301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Type</a:t>
            </a:r>
          </a:p>
          <a:p>
            <a:pPr algn="just">
              <a:lnSpc>
                <a:spcPts val="3239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CSV</a:t>
            </a:r>
          </a:p>
          <a:p>
            <a:pPr algn="just">
              <a:lnSpc>
                <a:spcPts val="3239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CSV</a:t>
            </a:r>
          </a:p>
          <a:p>
            <a:pPr algn="just">
              <a:lnSpc>
                <a:spcPts val="3239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CSV</a:t>
            </a:r>
          </a:p>
          <a:p>
            <a:pPr algn="just">
              <a:lnSpc>
                <a:spcPts val="3239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SQLite table SQLite table SQLite table Labels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65082" y="1104814"/>
            <a:ext cx="1148963" cy="326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9"/>
              </a:lnSpc>
            </a:pPr>
            <a:r>
              <a:rPr lang="en-US" b="true" sz="1301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Records</a:t>
            </a:r>
          </a:p>
          <a:p>
            <a:pPr algn="just">
              <a:lnSpc>
                <a:spcPts val="3239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150</a:t>
            </a:r>
          </a:p>
          <a:p>
            <a:pPr algn="just">
              <a:lnSpc>
                <a:spcPts val="3239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120</a:t>
            </a:r>
          </a:p>
          <a:p>
            <a:pPr algn="just">
              <a:lnSpc>
                <a:spcPts val="3239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175</a:t>
            </a:r>
          </a:p>
          <a:p>
            <a:pPr algn="just">
              <a:lnSpc>
                <a:spcPts val="3239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100</a:t>
            </a:r>
          </a:p>
          <a:p>
            <a:pPr algn="just">
              <a:lnSpc>
                <a:spcPts val="3239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80</a:t>
            </a:r>
          </a:p>
          <a:p>
            <a:pPr algn="just">
              <a:lnSpc>
                <a:spcPts val="3239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120</a:t>
            </a:r>
          </a:p>
          <a:p>
            <a:pPr algn="just">
              <a:lnSpc>
                <a:spcPts val="3239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84 labelled fields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98681" y="1668247"/>
            <a:ext cx="3257455" cy="79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No real person is exposed during development Safe to share, demo and record</a:t>
            </a:r>
          </a:p>
          <a:p>
            <a:pPr algn="l">
              <a:lnSpc>
                <a:spcPts val="2060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Known contents make manual labelling possible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20488" y="1234316"/>
            <a:ext cx="1741256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Why synthetic data?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20840" y="1710557"/>
            <a:ext cx="59836" cy="757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60"/>
              </a:lnSpc>
            </a:pPr>
            <a:r>
              <a:rPr lang="en-US" sz="1301" spc="-2">
                <a:solidFill>
                  <a:srgbClr val="E8EEF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 • •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20488" y="3492160"/>
            <a:ext cx="2826858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Sample schema and row (fake values)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51082" y="4075071"/>
            <a:ext cx="737702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customer_id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51082" y="4530309"/>
            <a:ext cx="409165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spc="2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C-0001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56922" y="4075071"/>
            <a:ext cx="333946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name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56922" y="4530309"/>
            <a:ext cx="801815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Test User One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45642" y="4075071"/>
            <a:ext cx="328393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2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email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45642" y="4530309"/>
            <a:ext cx="1225229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user1@example.com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45842" y="4075071"/>
            <a:ext cx="210141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city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545842" y="4530309"/>
            <a:ext cx="724310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Sampletown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460" y="1897780"/>
            <a:ext cx="2742400" cy="1828000"/>
          </a:xfrm>
          <a:custGeom>
            <a:avLst/>
            <a:gdLst/>
            <a:ahLst/>
            <a:cxnLst/>
            <a:rect r="r" b="b" t="t" l="l"/>
            <a:pathLst>
              <a:path h="1828000" w="2742400">
                <a:moveTo>
                  <a:pt x="0" y="0"/>
                </a:moveTo>
                <a:lnTo>
                  <a:pt x="2742400" y="0"/>
                </a:lnTo>
                <a:lnTo>
                  <a:pt x="2742400" y="1828000"/>
                </a:lnTo>
                <a:lnTo>
                  <a:pt x="0" y="182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7222" y="1116949"/>
            <a:ext cx="11234433" cy="691477"/>
          </a:xfrm>
          <a:custGeom>
            <a:avLst/>
            <a:gdLst/>
            <a:ahLst/>
            <a:cxnLst/>
            <a:rect r="r" b="b" t="t" l="l"/>
            <a:pathLst>
              <a:path h="691477" w="11234433">
                <a:moveTo>
                  <a:pt x="0" y="0"/>
                </a:moveTo>
                <a:lnTo>
                  <a:pt x="11234432" y="0"/>
                </a:lnTo>
                <a:lnTo>
                  <a:pt x="11234432" y="691477"/>
                </a:lnTo>
                <a:lnTo>
                  <a:pt x="0" y="6914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15100" y="1897780"/>
            <a:ext cx="2742400" cy="1828000"/>
          </a:xfrm>
          <a:custGeom>
            <a:avLst/>
            <a:gdLst/>
            <a:ahLst/>
            <a:cxnLst/>
            <a:rect r="r" b="b" t="t" l="l"/>
            <a:pathLst>
              <a:path h="1828000" w="2742400">
                <a:moveTo>
                  <a:pt x="0" y="0"/>
                </a:moveTo>
                <a:lnTo>
                  <a:pt x="2742400" y="0"/>
                </a:lnTo>
                <a:lnTo>
                  <a:pt x="2742400" y="1828000"/>
                </a:lnTo>
                <a:lnTo>
                  <a:pt x="0" y="1828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49740" y="1897780"/>
            <a:ext cx="2742400" cy="1828000"/>
          </a:xfrm>
          <a:custGeom>
            <a:avLst/>
            <a:gdLst/>
            <a:ahLst/>
            <a:cxnLst/>
            <a:rect r="r" b="b" t="t" l="l"/>
            <a:pathLst>
              <a:path h="1828000" w="2742400">
                <a:moveTo>
                  <a:pt x="0" y="0"/>
                </a:moveTo>
                <a:lnTo>
                  <a:pt x="2742400" y="0"/>
                </a:lnTo>
                <a:lnTo>
                  <a:pt x="2742400" y="1828000"/>
                </a:lnTo>
                <a:lnTo>
                  <a:pt x="0" y="182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84380" y="1897780"/>
            <a:ext cx="2742400" cy="1828000"/>
          </a:xfrm>
          <a:custGeom>
            <a:avLst/>
            <a:gdLst/>
            <a:ahLst/>
            <a:cxnLst/>
            <a:rect r="r" b="b" t="t" l="l"/>
            <a:pathLst>
              <a:path h="1828000" w="2742400">
                <a:moveTo>
                  <a:pt x="0" y="0"/>
                </a:moveTo>
                <a:lnTo>
                  <a:pt x="2742400" y="0"/>
                </a:lnTo>
                <a:lnTo>
                  <a:pt x="2742400" y="1828000"/>
                </a:lnTo>
                <a:lnTo>
                  <a:pt x="0" y="1828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00281" y="2217230"/>
            <a:ext cx="228248" cy="228248"/>
            <a:chOff x="0" y="0"/>
            <a:chExt cx="304330" cy="30433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304292" cy="304292"/>
            </a:xfrm>
            <a:custGeom>
              <a:avLst/>
              <a:gdLst/>
              <a:ahLst/>
              <a:cxnLst/>
              <a:rect r="r" b="b" t="t" l="l"/>
              <a:pathLst>
                <a:path h="304292" w="304292">
                  <a:moveTo>
                    <a:pt x="0" y="0"/>
                  </a:moveTo>
                  <a:lnTo>
                    <a:pt x="304292" y="0"/>
                  </a:lnTo>
                  <a:lnTo>
                    <a:pt x="304292" y="304292"/>
                  </a:lnTo>
                  <a:lnTo>
                    <a:pt x="0" y="304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12" b="-1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634921" y="2217230"/>
            <a:ext cx="228248" cy="228248"/>
            <a:chOff x="0" y="0"/>
            <a:chExt cx="304330" cy="30433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304292" cy="304292"/>
            </a:xfrm>
            <a:custGeom>
              <a:avLst/>
              <a:gdLst/>
              <a:ahLst/>
              <a:cxnLst/>
              <a:rect r="r" b="b" t="t" l="l"/>
              <a:pathLst>
                <a:path h="304292" w="304292">
                  <a:moveTo>
                    <a:pt x="0" y="0"/>
                  </a:moveTo>
                  <a:lnTo>
                    <a:pt x="304292" y="0"/>
                  </a:lnTo>
                  <a:lnTo>
                    <a:pt x="304292" y="304292"/>
                  </a:lnTo>
                  <a:lnTo>
                    <a:pt x="0" y="304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12" b="-1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69561" y="2217230"/>
            <a:ext cx="228248" cy="228248"/>
            <a:chOff x="0" y="0"/>
            <a:chExt cx="304330" cy="30433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304292" cy="304292"/>
            </a:xfrm>
            <a:custGeom>
              <a:avLst/>
              <a:gdLst/>
              <a:ahLst/>
              <a:cxnLst/>
              <a:rect r="r" b="b" t="t" l="l"/>
              <a:pathLst>
                <a:path h="304292" w="304292">
                  <a:moveTo>
                    <a:pt x="0" y="0"/>
                  </a:moveTo>
                  <a:lnTo>
                    <a:pt x="304292" y="0"/>
                  </a:lnTo>
                  <a:lnTo>
                    <a:pt x="304292" y="304292"/>
                  </a:lnTo>
                  <a:lnTo>
                    <a:pt x="0" y="304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12" b="-1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304201" y="2217230"/>
            <a:ext cx="228248" cy="228248"/>
            <a:chOff x="0" y="0"/>
            <a:chExt cx="304330" cy="30433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304292" cy="304292"/>
            </a:xfrm>
            <a:custGeom>
              <a:avLst/>
              <a:gdLst/>
              <a:ahLst/>
              <a:cxnLst/>
              <a:rect r="r" b="b" t="t" l="l"/>
              <a:pathLst>
                <a:path h="304292" w="304292">
                  <a:moveTo>
                    <a:pt x="0" y="0"/>
                  </a:moveTo>
                  <a:lnTo>
                    <a:pt x="304292" y="0"/>
                  </a:lnTo>
                  <a:lnTo>
                    <a:pt x="304292" y="304292"/>
                  </a:lnTo>
                  <a:lnTo>
                    <a:pt x="0" y="304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-12" b="-12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476869" y="4139860"/>
            <a:ext cx="11234433" cy="2194846"/>
          </a:xfrm>
          <a:custGeom>
            <a:avLst/>
            <a:gdLst/>
            <a:ahLst/>
            <a:cxnLst/>
            <a:rect r="r" b="b" t="t" l="l"/>
            <a:pathLst>
              <a:path h="2194846" w="11234433">
                <a:moveTo>
                  <a:pt x="0" y="0"/>
                </a:moveTo>
                <a:lnTo>
                  <a:pt x="11234433" y="0"/>
                </a:lnTo>
                <a:lnTo>
                  <a:pt x="11234433" y="2194846"/>
                </a:lnTo>
                <a:lnTo>
                  <a:pt x="0" y="219484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40439" y="6458626"/>
            <a:ext cx="131045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11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8640" y="305705"/>
            <a:ext cx="5665051" cy="60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How the Detection Engine Works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22878" y="1309116"/>
            <a:ext cx="40996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2001" y="1309116"/>
            <a:ext cx="768210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Normalize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4088" y="2099805"/>
            <a:ext cx="1508303" cy="45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Normalized column name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9296" y="2646826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396605" y="1309116"/>
            <a:ext cx="846753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1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Apply</a:t>
            </a:r>
            <a:r>
              <a:rPr lang="en-US" b="true" sz="1400" spc="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  <a:r>
              <a:rPr lang="en-US" b="true" sz="1400" spc="1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rules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8288" y="3793836"/>
            <a:ext cx="4008282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Rules live in backend/config/rules.json (configurable)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68728" y="2177796"/>
            <a:ext cx="731206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Data type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487476" y="1309116"/>
            <a:ext cx="1235840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Gather</a:t>
            </a:r>
            <a:r>
              <a:rPr lang="en-US" b="true" sz="140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evidence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81350" y="2670162"/>
            <a:ext cx="2300403" cy="399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Regular expressions test whether values look like emails, phones, etc.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94613" y="2245630"/>
            <a:ext cx="1787139" cy="237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b="true" sz="14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Value patterns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750083" y="1309116"/>
            <a:ext cx="1276474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Score confidence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38008" y="2177796"/>
            <a:ext cx="1544574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% non-null matching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40036" y="1309116"/>
            <a:ext cx="1261605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Generate finding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31168" y="2646826"/>
            <a:ext cx="17119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Lowercaseand cleaned,so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31168" y="2848756"/>
            <a:ext cx="2256806" cy="40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"Email_Addr" and "email" compare well.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565808" y="2665876"/>
            <a:ext cx="2278247" cy="40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Numeric, text or date narrows what a field can be.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35088" y="2665876"/>
            <a:ext cx="2011547" cy="40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Share of non-empty values that match a pattern.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24602" y="4137403"/>
            <a:ext cx="874747" cy="1446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b="true" sz="1301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Column </a:t>
            </a: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email</a:t>
            </a:r>
          </a:p>
          <a:p>
            <a:pPr algn="l">
              <a:lnSpc>
                <a:spcPts val="2880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city blood_group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184922" y="4137403"/>
            <a:ext cx="1144076" cy="1446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b="true" sz="1301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Values seen </a:t>
            </a: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email-like strings city names</a:t>
            </a:r>
          </a:p>
          <a:p>
            <a:pPr algn="l">
              <a:lnSpc>
                <a:spcPts val="2880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A+, O+, ...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299722" y="4137403"/>
            <a:ext cx="1903543" cy="1446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b="true" sz="1301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Result</a:t>
            </a:r>
          </a:p>
          <a:p>
            <a:pPr algn="l">
              <a:lnSpc>
                <a:spcPts val="2880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Contact candidate</a:t>
            </a:r>
          </a:p>
          <a:p>
            <a:pPr algn="l">
              <a:lnSpc>
                <a:spcPts val="2880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Location candidate Sensitive / Health candidate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913126" y="5874306"/>
            <a:ext cx="6480210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A name or pattern match is evidence for review - not proof of legal classification.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2260" y="1579540"/>
            <a:ext cx="6442129" cy="3333169"/>
          </a:xfrm>
          <a:custGeom>
            <a:avLst/>
            <a:gdLst/>
            <a:ahLst/>
            <a:cxnLst/>
            <a:rect r="r" b="b" t="t" l="l"/>
            <a:pathLst>
              <a:path h="3333169" w="6442129">
                <a:moveTo>
                  <a:pt x="0" y="0"/>
                </a:moveTo>
                <a:lnTo>
                  <a:pt x="6442129" y="0"/>
                </a:lnTo>
                <a:lnTo>
                  <a:pt x="6442129" y="3333169"/>
                </a:lnTo>
                <a:lnTo>
                  <a:pt x="0" y="3333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6869" y="5780389"/>
            <a:ext cx="11234433" cy="600037"/>
          </a:xfrm>
          <a:custGeom>
            <a:avLst/>
            <a:gdLst/>
            <a:ahLst/>
            <a:cxnLst/>
            <a:rect r="r" b="b" t="t" l="l"/>
            <a:pathLst>
              <a:path h="600037" w="11234433">
                <a:moveTo>
                  <a:pt x="0" y="0"/>
                </a:moveTo>
                <a:lnTo>
                  <a:pt x="11234433" y="0"/>
                </a:lnTo>
                <a:lnTo>
                  <a:pt x="11234433" y="600037"/>
                </a:lnTo>
                <a:lnTo>
                  <a:pt x="0" y="6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63788" y="1577388"/>
            <a:ext cx="4644276" cy="4159720"/>
          </a:xfrm>
          <a:custGeom>
            <a:avLst/>
            <a:gdLst/>
            <a:ahLst/>
            <a:cxnLst/>
            <a:rect r="r" b="b" t="t" l="l"/>
            <a:pathLst>
              <a:path h="4159720" w="4644276">
                <a:moveTo>
                  <a:pt x="0" y="0"/>
                </a:moveTo>
                <a:lnTo>
                  <a:pt x="4644275" y="0"/>
                </a:lnTo>
                <a:lnTo>
                  <a:pt x="4644275" y="4159720"/>
                </a:lnTo>
                <a:lnTo>
                  <a:pt x="0" y="41597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82408" y="432768"/>
            <a:ext cx="2699918" cy="413918"/>
          </a:xfrm>
          <a:custGeom>
            <a:avLst/>
            <a:gdLst/>
            <a:ahLst/>
            <a:cxnLst/>
            <a:rect r="r" b="b" t="t" l="l"/>
            <a:pathLst>
              <a:path h="413918" w="2699918">
                <a:moveTo>
                  <a:pt x="0" y="0"/>
                </a:moveTo>
                <a:lnTo>
                  <a:pt x="2699919" y="0"/>
                </a:lnTo>
                <a:lnTo>
                  <a:pt x="2699919" y="413919"/>
                </a:lnTo>
                <a:lnTo>
                  <a:pt x="0" y="4139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16043" y="522923"/>
            <a:ext cx="1255481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CONCEPTUAL EXAMPLE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40439" y="6458626"/>
            <a:ext cx="131045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8288" y="-18145"/>
            <a:ext cx="6584509" cy="13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Confidence Scoring and False Positives</a:t>
            </a:r>
          </a:p>
          <a:p>
            <a:pPr algn="l">
              <a:lnSpc>
                <a:spcPts val="3916"/>
              </a:lnSpc>
            </a:pPr>
            <a:r>
              <a:rPr lang="en-US" sz="1598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Why score confidence? Similar-looking columns can mean different things.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60568" y="1691516"/>
            <a:ext cx="1791576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Anatomy of a finding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4602" y="1817360"/>
            <a:ext cx="495976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Column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4602" y="2455307"/>
            <a:ext cx="34591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email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4602" y="3095387"/>
            <a:ext cx="799338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email_status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4602" y="3735467"/>
            <a:ext cx="956843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phone_verified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4602" y="4375547"/>
            <a:ext cx="1081421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registration_date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1962" y="1817360"/>
            <a:ext cx="950004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Why it is tricky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61962" y="2455307"/>
            <a:ext cx="1840992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Name and values both match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61962" y="3095387"/>
            <a:ext cx="2620756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May be verification status, not an address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61962" y="3735467"/>
            <a:ext cx="1270616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Likely a boolean flag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61962" y="4375547"/>
            <a:ext cx="2545728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Ambiguous: may or may not be personal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96602" y="1817360"/>
            <a:ext cx="573176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Handling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96602" y="2457440"/>
            <a:ext cx="1088717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Strong candidate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96602" y="3097520"/>
            <a:ext cx="1051750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Review required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96602" y="3737600"/>
            <a:ext cx="1051750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Review required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96602" y="4377680"/>
            <a:ext cx="1051750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Review required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60568" y="2146040"/>
            <a:ext cx="308181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Field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60568" y="2786120"/>
            <a:ext cx="5699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Evidence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60568" y="3426200"/>
            <a:ext cx="720585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Confidence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60568" y="4066280"/>
            <a:ext cx="1051750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Review required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360568" y="4706360"/>
            <a:ext cx="760190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Explanation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732168" y="2144859"/>
            <a:ext cx="1471727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customers.csv / email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732168" y="2784939"/>
            <a:ext cx="1913144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name match + value pattern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732168" y="3425019"/>
            <a:ext cx="1380382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High (example level)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732168" y="4065099"/>
            <a:ext cx="196186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No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732168" y="4733754"/>
            <a:ext cx="2496645" cy="42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Header and 100% of non-null values matched email-like pattern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33432" y="5920026"/>
            <a:ext cx="7866145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Exact scoring formula and thresholds: extract from the scanner source; this diagram is conceptual.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460" y="2263540"/>
            <a:ext cx="5577040" cy="2833840"/>
          </a:xfrm>
          <a:custGeom>
            <a:avLst/>
            <a:gdLst/>
            <a:ahLst/>
            <a:cxnLst/>
            <a:rect r="r" b="b" t="t" l="l"/>
            <a:pathLst>
              <a:path h="2833840" w="5577040">
                <a:moveTo>
                  <a:pt x="0" y="0"/>
                </a:moveTo>
                <a:lnTo>
                  <a:pt x="5577040" y="0"/>
                </a:lnTo>
                <a:lnTo>
                  <a:pt x="5577040" y="2833840"/>
                </a:lnTo>
                <a:lnTo>
                  <a:pt x="0" y="2833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8488" y="1073201"/>
            <a:ext cx="11231194" cy="733958"/>
          </a:xfrm>
          <a:custGeom>
            <a:avLst/>
            <a:gdLst/>
            <a:ahLst/>
            <a:cxnLst/>
            <a:rect r="r" b="b" t="t" l="l"/>
            <a:pathLst>
              <a:path h="733958" w="11231194">
                <a:moveTo>
                  <a:pt x="0" y="0"/>
                </a:moveTo>
                <a:lnTo>
                  <a:pt x="11231195" y="0"/>
                </a:lnTo>
                <a:lnTo>
                  <a:pt x="11231195" y="733958"/>
                </a:lnTo>
                <a:lnTo>
                  <a:pt x="0" y="733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31376" y="2263540"/>
            <a:ext cx="5577040" cy="2833840"/>
          </a:xfrm>
          <a:custGeom>
            <a:avLst/>
            <a:gdLst/>
            <a:ahLst/>
            <a:cxnLst/>
            <a:rect r="r" b="b" t="t" l="l"/>
            <a:pathLst>
              <a:path h="2833840" w="5577040">
                <a:moveTo>
                  <a:pt x="0" y="0"/>
                </a:moveTo>
                <a:lnTo>
                  <a:pt x="5577040" y="0"/>
                </a:lnTo>
                <a:lnTo>
                  <a:pt x="5577040" y="2833840"/>
                </a:lnTo>
                <a:lnTo>
                  <a:pt x="0" y="2833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48640" y="5303149"/>
            <a:ext cx="365408" cy="365408"/>
            <a:chOff x="0" y="0"/>
            <a:chExt cx="487210" cy="48721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487172" cy="487172"/>
            </a:xfrm>
            <a:custGeom>
              <a:avLst/>
              <a:gdLst/>
              <a:ahLst/>
              <a:cxnLst/>
              <a:rect r="r" b="b" t="t" l="l"/>
              <a:pathLst>
                <a:path h="487172" w="487172">
                  <a:moveTo>
                    <a:pt x="0" y="0"/>
                  </a:moveTo>
                  <a:lnTo>
                    <a:pt x="487172" y="0"/>
                  </a:lnTo>
                  <a:lnTo>
                    <a:pt x="487172" y="487172"/>
                  </a:lnTo>
                  <a:lnTo>
                    <a:pt x="0" y="487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7" b="-7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31249" y="2443163"/>
            <a:ext cx="1266749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ILLUSTRATIVE EXAMPLE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82165" y="2443163"/>
            <a:ext cx="1266758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ILLUSTRATIVE EXAMPLE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40439" y="6458626"/>
            <a:ext cx="131045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13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8640" y="305705"/>
            <a:ext cx="3307004" cy="60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Metadata Mapping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67553" y="1297200"/>
            <a:ext cx="139903" cy="308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70">
                <a:solidFill>
                  <a:srgbClr val="9FB0C8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84473" y="1324099"/>
            <a:ext cx="1538935" cy="29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">
                <a:solidFill>
                  <a:srgbClr val="22D3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source_type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79033" y="1324099"/>
            <a:ext cx="1538935" cy="29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">
                <a:solidFill>
                  <a:srgbClr val="2DD4B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source_name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73593" y="1324099"/>
            <a:ext cx="1399032" cy="29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7">
                <a:solidFill>
                  <a:srgbClr val="A78B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field_name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68153" y="1297200"/>
            <a:ext cx="1259129" cy="308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70">
                <a:solidFill>
                  <a:srgbClr val="9FB0C8"/>
                </a:solidFill>
                <a:latin typeface="Montserrat"/>
                <a:ea typeface="Montserrat"/>
                <a:cs typeface="Montserrat"/>
                <a:sym typeface="Montserrat"/>
              </a:rPr>
              <a:t>match key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87793" y="1297200"/>
            <a:ext cx="559613" cy="308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70">
                <a:solidFill>
                  <a:srgbClr val="9FB0C8"/>
                </a:solidFill>
                <a:latin typeface="Montserrat"/>
                <a:ea typeface="Montserrat"/>
                <a:cs typeface="Montserrat"/>
                <a:sym typeface="Montserrat"/>
              </a:rPr>
              <a:t> +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45193" y="1297200"/>
            <a:ext cx="139903" cy="308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70">
                <a:solidFill>
                  <a:srgbClr val="9FB0C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56673" y="1297200"/>
            <a:ext cx="279806" cy="308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70">
                <a:solidFill>
                  <a:srgbClr val="9FB0C8"/>
                </a:solidFill>
                <a:latin typeface="Montserrat"/>
                <a:ea typeface="Montserrat"/>
                <a:cs typeface="Montserrat"/>
                <a:sym typeface="Montserrat"/>
              </a:rPr>
              <a:t>=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8288" y="1825381"/>
            <a:ext cx="6737909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Declared attributes: Purpose | Retention period | Metadata owner | Notice version | Notes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6888" y="2358952"/>
            <a:ext cx="1598981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Complete example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27803" y="2358952"/>
            <a:ext cx="1740227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Incomplete example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53202" y="2754782"/>
            <a:ext cx="902322" cy="208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5"/>
              </a:lnSpc>
            </a:pPr>
            <a:r>
              <a:rPr lang="en-US" b="true" sz="11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Attribute</a:t>
            </a:r>
          </a:p>
          <a:p>
            <a:pPr algn="l">
              <a:lnSpc>
                <a:spcPts val="2735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Key</a:t>
            </a:r>
          </a:p>
          <a:p>
            <a:pPr algn="l">
              <a:lnSpc>
                <a:spcPts val="2735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Purpose Retention Owner</a:t>
            </a:r>
          </a:p>
          <a:p>
            <a:pPr algn="l">
              <a:lnSpc>
                <a:spcPts val="2735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Notice version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90562" y="2754782"/>
            <a:ext cx="1719205" cy="208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5"/>
              </a:lnSpc>
            </a:pPr>
            <a:r>
              <a:rPr lang="en-US" b="true" sz="11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Value</a:t>
            </a:r>
          </a:p>
          <a:p>
            <a:pPr algn="l">
              <a:lnSpc>
                <a:spcPts val="2735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csv + customers.csv + email Order communication</a:t>
            </a:r>
          </a:p>
          <a:p>
            <a:pPr algn="l">
              <a:lnSpc>
                <a:spcPts val="2735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24 months</a:t>
            </a:r>
          </a:p>
          <a:p>
            <a:pPr algn="l">
              <a:lnSpc>
                <a:spcPts val="2735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Customer Ops</a:t>
            </a:r>
          </a:p>
          <a:p>
            <a:pPr algn="l">
              <a:lnSpc>
                <a:spcPts val="2735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v1.0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04118" y="2754782"/>
            <a:ext cx="902322" cy="208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5"/>
              </a:lnSpc>
            </a:pPr>
            <a:r>
              <a:rPr lang="en-US" b="true" sz="11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Attribute</a:t>
            </a:r>
          </a:p>
          <a:p>
            <a:pPr algn="l">
              <a:lnSpc>
                <a:spcPts val="2735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Key</a:t>
            </a:r>
          </a:p>
          <a:p>
            <a:pPr algn="l">
              <a:lnSpc>
                <a:spcPts val="2735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Purpose Retention Owner</a:t>
            </a:r>
          </a:p>
          <a:p>
            <a:pPr algn="l">
              <a:lnSpc>
                <a:spcPts val="2735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Notice version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41478" y="2754782"/>
            <a:ext cx="1776679" cy="208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5"/>
              </a:lnSpc>
            </a:pPr>
            <a:r>
              <a:rPr lang="en-US" b="true" sz="11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Value</a:t>
            </a:r>
          </a:p>
          <a:p>
            <a:pPr algn="just">
              <a:lnSpc>
                <a:spcPts val="2735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csv + customers.csv + phone Customer support</a:t>
            </a:r>
          </a:p>
          <a:p>
            <a:pPr algn="just">
              <a:lnSpc>
                <a:spcPts val="2735"/>
              </a:lnSpc>
            </a:pPr>
            <a:r>
              <a:rPr lang="en-US" b="true" sz="1199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(blank)</a:t>
            </a:r>
          </a:p>
          <a:p>
            <a:pPr algn="just">
              <a:lnSpc>
                <a:spcPts val="2735"/>
              </a:lnSpc>
            </a:pPr>
            <a:r>
              <a:rPr lang="en-US" b="true" sz="1199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(blank)</a:t>
            </a:r>
          </a:p>
          <a:p>
            <a:pPr algn="just">
              <a:lnSpc>
                <a:spcPts val="2735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v1.0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51208" y="5367423"/>
            <a:ext cx="10128723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Metadata records what the organisation has DECLARED. Its existence in a registry file does not make it independently verified.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108" y="4137708"/>
            <a:ext cx="3702520" cy="1507960"/>
          </a:xfrm>
          <a:custGeom>
            <a:avLst/>
            <a:gdLst/>
            <a:ahLst/>
            <a:cxnLst/>
            <a:rect r="r" b="b" t="t" l="l"/>
            <a:pathLst>
              <a:path h="1507960" w="3702520">
                <a:moveTo>
                  <a:pt x="0" y="0"/>
                </a:moveTo>
                <a:lnTo>
                  <a:pt x="3702520" y="0"/>
                </a:lnTo>
                <a:lnTo>
                  <a:pt x="3702520" y="1507960"/>
                </a:lnTo>
                <a:lnTo>
                  <a:pt x="0" y="1507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29148" y="4137708"/>
            <a:ext cx="3702520" cy="1507960"/>
          </a:xfrm>
          <a:custGeom>
            <a:avLst/>
            <a:gdLst/>
            <a:ahLst/>
            <a:cxnLst/>
            <a:rect r="r" b="b" t="t" l="l"/>
            <a:pathLst>
              <a:path h="1507960" w="3702520">
                <a:moveTo>
                  <a:pt x="0" y="0"/>
                </a:moveTo>
                <a:lnTo>
                  <a:pt x="3702520" y="0"/>
                </a:lnTo>
                <a:lnTo>
                  <a:pt x="3702520" y="1507960"/>
                </a:lnTo>
                <a:lnTo>
                  <a:pt x="0" y="1507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78188" y="4137708"/>
            <a:ext cx="3702520" cy="1507960"/>
          </a:xfrm>
          <a:custGeom>
            <a:avLst/>
            <a:gdLst/>
            <a:ahLst/>
            <a:cxnLst/>
            <a:rect r="r" b="b" t="t" l="l"/>
            <a:pathLst>
              <a:path h="1507960" w="3702520">
                <a:moveTo>
                  <a:pt x="0" y="0"/>
                </a:moveTo>
                <a:lnTo>
                  <a:pt x="3702520" y="0"/>
                </a:lnTo>
                <a:lnTo>
                  <a:pt x="3702520" y="1507960"/>
                </a:lnTo>
                <a:lnTo>
                  <a:pt x="0" y="1507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82408" y="432768"/>
            <a:ext cx="2699918" cy="413918"/>
          </a:xfrm>
          <a:custGeom>
            <a:avLst/>
            <a:gdLst/>
            <a:ahLst/>
            <a:cxnLst/>
            <a:rect r="r" b="b" t="t" l="l"/>
            <a:pathLst>
              <a:path h="413918" w="2699918">
                <a:moveTo>
                  <a:pt x="0" y="0"/>
                </a:moveTo>
                <a:lnTo>
                  <a:pt x="2699919" y="0"/>
                </a:lnTo>
                <a:lnTo>
                  <a:pt x="2699919" y="413919"/>
                </a:lnTo>
                <a:lnTo>
                  <a:pt x="0" y="4139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2260" y="1122340"/>
            <a:ext cx="11224365" cy="2875969"/>
          </a:xfrm>
          <a:custGeom>
            <a:avLst/>
            <a:gdLst/>
            <a:ahLst/>
            <a:cxnLst/>
            <a:rect r="r" b="b" t="t" l="l"/>
            <a:pathLst>
              <a:path h="2875969" w="11224365">
                <a:moveTo>
                  <a:pt x="0" y="0"/>
                </a:moveTo>
                <a:lnTo>
                  <a:pt x="11224365" y="0"/>
                </a:lnTo>
                <a:lnTo>
                  <a:pt x="11224365" y="2875969"/>
                </a:lnTo>
                <a:lnTo>
                  <a:pt x="0" y="28759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11719" y="522923"/>
            <a:ext cx="1266758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ILLUSTRATIVE EXAMPLE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40439" y="6458626"/>
            <a:ext cx="131045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14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8640" y="305705"/>
            <a:ext cx="4005215" cy="124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The Evidence Inventory</a:t>
            </a:r>
          </a:p>
          <a:p>
            <a:pPr algn="r">
              <a:lnSpc>
                <a:spcPts val="1539"/>
              </a:lnSpc>
            </a:pPr>
            <a:r>
              <a:rPr lang="en-US" b="true" sz="10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Confidence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4602" y="1331871"/>
            <a:ext cx="400622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Source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4602" y="1878549"/>
            <a:ext cx="814492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customers.csv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4602" y="2427189"/>
            <a:ext cx="814492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customers.csv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4602" y="2975829"/>
            <a:ext cx="814492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customers.csv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4602" y="3524469"/>
            <a:ext cx="842267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employees.csv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50482" y="1331871"/>
            <a:ext cx="282940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Field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50482" y="1878549"/>
            <a:ext cx="318411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spc="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email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50482" y="2427189"/>
            <a:ext cx="370561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phone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50482" y="2975829"/>
            <a:ext cx="735844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email_status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50482" y="3524469"/>
            <a:ext cx="339071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sa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lary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56322" y="1331871"/>
            <a:ext cx="294484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Class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56322" y="1878549"/>
            <a:ext cx="446780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Contact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56322" y="2427189"/>
            <a:ext cx="446780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56322" y="2975829"/>
            <a:ext cx="446780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Contact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56322" y="3524469"/>
            <a:ext cx="510892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Finan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cial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825002" y="1878549"/>
            <a:ext cx="262709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High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825002" y="2427189"/>
            <a:ext cx="262709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High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825002" y="2975829"/>
            <a:ext cx="235353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Low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825002" y="3524469"/>
            <a:ext cx="489233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spc="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Medium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785122" y="1331871"/>
            <a:ext cx="1053122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Evidence / reason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785122" y="1878549"/>
            <a:ext cx="1438646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Name + email-like values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785122" y="2427189"/>
            <a:ext cx="1490215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Name + phone-like values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785122" y="2908840"/>
            <a:ext cx="1927736" cy="36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Name matches; values not email- like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785122" y="3524469"/>
            <a:ext cx="1685534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Name match; numeric values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33962" y="1331871"/>
            <a:ext cx="1042435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Declared purpose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933962" y="1878549"/>
            <a:ext cx="1272102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Order communication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933962" y="2427189"/>
            <a:ext cx="1047426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Customer support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933962" y="2975829"/>
            <a:ext cx="902398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Verification flag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933962" y="3526431"/>
            <a:ext cx="415719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(blank)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534162" y="1331871"/>
            <a:ext cx="581130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Retention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534162" y="1878549"/>
            <a:ext cx="617601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24 months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534162" y="2429151"/>
            <a:ext cx="415719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(blank)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534162" y="2975829"/>
            <a:ext cx="617601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12 months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534162" y="3526431"/>
            <a:ext cx="415719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(blank)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494282" y="1331871"/>
            <a:ext cx="429539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Review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494282" y="1878549"/>
            <a:ext cx="166830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No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494282" y="2427189"/>
            <a:ext cx="186347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Yes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494282" y="2977791"/>
            <a:ext cx="190481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Yes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94282" y="3524469"/>
            <a:ext cx="186347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Yes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180082" y="1331871"/>
            <a:ext cx="624859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Gap status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180082" y="1878549"/>
            <a:ext cx="312858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spc="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None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180082" y="2429151"/>
            <a:ext cx="824751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Retention gap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180082" y="2975829"/>
            <a:ext cx="312858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spc="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None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180082" y="3526431"/>
            <a:ext cx="1172651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Purpose + retention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31168" y="4270143"/>
            <a:ext cx="1833096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One consolidated view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08147" y="4659097"/>
            <a:ext cx="38090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480208" y="4270143"/>
            <a:ext cx="1622727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Reason for each flag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074244" y="4659097"/>
            <a:ext cx="38090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229248" y="4270143"/>
            <a:ext cx="1468688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Machine-readable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229248" y="4659097"/>
            <a:ext cx="574062" cy="454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  <a:p>
            <a:pPr algn="ctr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analysis.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31168" y="4659097"/>
            <a:ext cx="3186836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Reviewersseefindingsanddeclared metadata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31168" y="4857464"/>
            <a:ext cx="832275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side by side.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480208" y="4659097"/>
            <a:ext cx="3257969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Evidencemakeseachfinding easy to confirm or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480208" y="4857464"/>
            <a:ext cx="690362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challenge.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8229248" y="4659097"/>
            <a:ext cx="3193409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CSVandJSONexportsfeed other tools or later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108" y="1120540"/>
            <a:ext cx="2788120" cy="1645120"/>
          </a:xfrm>
          <a:custGeom>
            <a:avLst/>
            <a:gdLst/>
            <a:ahLst/>
            <a:cxnLst/>
            <a:rect r="r" b="b" t="t" l="l"/>
            <a:pathLst>
              <a:path h="1645120" w="2788120">
                <a:moveTo>
                  <a:pt x="0" y="0"/>
                </a:moveTo>
                <a:lnTo>
                  <a:pt x="2788120" y="0"/>
                </a:lnTo>
                <a:lnTo>
                  <a:pt x="2788120" y="1645120"/>
                </a:lnTo>
                <a:lnTo>
                  <a:pt x="0" y="1645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82408" y="432768"/>
            <a:ext cx="2699918" cy="413918"/>
          </a:xfrm>
          <a:custGeom>
            <a:avLst/>
            <a:gdLst/>
            <a:ahLst/>
            <a:cxnLst/>
            <a:rect r="r" b="b" t="t" l="l"/>
            <a:pathLst>
              <a:path h="413918" w="2699918">
                <a:moveTo>
                  <a:pt x="0" y="0"/>
                </a:moveTo>
                <a:lnTo>
                  <a:pt x="2699919" y="0"/>
                </a:lnTo>
                <a:lnTo>
                  <a:pt x="2699919" y="413919"/>
                </a:lnTo>
                <a:lnTo>
                  <a:pt x="0" y="4139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96383" y="1120540"/>
            <a:ext cx="2788120" cy="1645120"/>
          </a:xfrm>
          <a:custGeom>
            <a:avLst/>
            <a:gdLst/>
            <a:ahLst/>
            <a:cxnLst/>
            <a:rect r="r" b="b" t="t" l="l"/>
            <a:pathLst>
              <a:path h="1645120" w="2788120">
                <a:moveTo>
                  <a:pt x="0" y="0"/>
                </a:moveTo>
                <a:lnTo>
                  <a:pt x="2788120" y="0"/>
                </a:lnTo>
                <a:lnTo>
                  <a:pt x="2788120" y="1645120"/>
                </a:lnTo>
                <a:lnTo>
                  <a:pt x="0" y="16451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12659" y="1120540"/>
            <a:ext cx="2788120" cy="1645120"/>
          </a:xfrm>
          <a:custGeom>
            <a:avLst/>
            <a:gdLst/>
            <a:ahLst/>
            <a:cxnLst/>
            <a:rect r="r" b="b" t="t" l="l"/>
            <a:pathLst>
              <a:path h="1645120" w="2788120">
                <a:moveTo>
                  <a:pt x="0" y="0"/>
                </a:moveTo>
                <a:lnTo>
                  <a:pt x="2788120" y="0"/>
                </a:lnTo>
                <a:lnTo>
                  <a:pt x="2788120" y="1645120"/>
                </a:lnTo>
                <a:lnTo>
                  <a:pt x="0" y="16451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29297" y="1120540"/>
            <a:ext cx="2788120" cy="1645120"/>
          </a:xfrm>
          <a:custGeom>
            <a:avLst/>
            <a:gdLst/>
            <a:ahLst/>
            <a:cxnLst/>
            <a:rect r="r" b="b" t="t" l="l"/>
            <a:pathLst>
              <a:path h="1645120" w="2788120">
                <a:moveTo>
                  <a:pt x="0" y="0"/>
                </a:moveTo>
                <a:lnTo>
                  <a:pt x="2788120" y="0"/>
                </a:lnTo>
                <a:lnTo>
                  <a:pt x="2788120" y="1645120"/>
                </a:lnTo>
                <a:lnTo>
                  <a:pt x="0" y="16451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31520" y="1325509"/>
            <a:ext cx="365408" cy="365408"/>
            <a:chOff x="0" y="0"/>
            <a:chExt cx="487210" cy="48721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487172" cy="487172"/>
            </a:xfrm>
            <a:custGeom>
              <a:avLst/>
              <a:gdLst/>
              <a:ahLst/>
              <a:cxnLst/>
              <a:rect r="r" b="b" t="t" l="l"/>
              <a:pathLst>
                <a:path h="487172" w="487172">
                  <a:moveTo>
                    <a:pt x="0" y="0"/>
                  </a:moveTo>
                  <a:lnTo>
                    <a:pt x="487172" y="0"/>
                  </a:lnTo>
                  <a:lnTo>
                    <a:pt x="487172" y="487172"/>
                  </a:lnTo>
                  <a:lnTo>
                    <a:pt x="0" y="487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7" b="-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547796" y="1325509"/>
            <a:ext cx="365408" cy="365408"/>
            <a:chOff x="0" y="0"/>
            <a:chExt cx="487210" cy="48721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487172" cy="487172"/>
            </a:xfrm>
            <a:custGeom>
              <a:avLst/>
              <a:gdLst/>
              <a:ahLst/>
              <a:cxnLst/>
              <a:rect r="r" b="b" t="t" l="l"/>
              <a:pathLst>
                <a:path h="487172" w="487172">
                  <a:moveTo>
                    <a:pt x="0" y="0"/>
                  </a:moveTo>
                  <a:lnTo>
                    <a:pt x="487172" y="0"/>
                  </a:lnTo>
                  <a:lnTo>
                    <a:pt x="487172" y="487172"/>
                  </a:lnTo>
                  <a:lnTo>
                    <a:pt x="0" y="487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7" b="-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364081" y="1325509"/>
            <a:ext cx="365408" cy="365408"/>
            <a:chOff x="0" y="0"/>
            <a:chExt cx="487210" cy="48721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487172" cy="487172"/>
            </a:xfrm>
            <a:custGeom>
              <a:avLst/>
              <a:gdLst/>
              <a:ahLst/>
              <a:cxnLst/>
              <a:rect r="r" b="b" t="t" l="l"/>
              <a:pathLst>
                <a:path h="487172" w="487172">
                  <a:moveTo>
                    <a:pt x="0" y="0"/>
                  </a:moveTo>
                  <a:lnTo>
                    <a:pt x="487172" y="0"/>
                  </a:lnTo>
                  <a:lnTo>
                    <a:pt x="487172" y="487172"/>
                  </a:lnTo>
                  <a:lnTo>
                    <a:pt x="0" y="487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7" b="-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80719" y="1325509"/>
            <a:ext cx="365408" cy="365408"/>
            <a:chOff x="0" y="0"/>
            <a:chExt cx="487210" cy="48721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87172" cy="487172"/>
            </a:xfrm>
            <a:custGeom>
              <a:avLst/>
              <a:gdLst/>
              <a:ahLst/>
              <a:cxnLst/>
              <a:rect r="r" b="b" t="t" l="l"/>
              <a:pathLst>
                <a:path h="487172" w="487172">
                  <a:moveTo>
                    <a:pt x="0" y="0"/>
                  </a:moveTo>
                  <a:lnTo>
                    <a:pt x="487172" y="0"/>
                  </a:lnTo>
                  <a:lnTo>
                    <a:pt x="487172" y="487172"/>
                  </a:lnTo>
                  <a:lnTo>
                    <a:pt x="0" y="487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7" b="-7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480108" y="2812180"/>
            <a:ext cx="3976840" cy="2833840"/>
          </a:xfrm>
          <a:custGeom>
            <a:avLst/>
            <a:gdLst/>
            <a:ahLst/>
            <a:cxnLst/>
            <a:rect r="r" b="b" t="t" l="l"/>
            <a:pathLst>
              <a:path h="2833840" w="3976840">
                <a:moveTo>
                  <a:pt x="0" y="0"/>
                </a:moveTo>
                <a:lnTo>
                  <a:pt x="3976840" y="0"/>
                </a:lnTo>
                <a:lnTo>
                  <a:pt x="3976840" y="2833840"/>
                </a:lnTo>
                <a:lnTo>
                  <a:pt x="0" y="28338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76869" y="5689302"/>
            <a:ext cx="11234433" cy="645757"/>
          </a:xfrm>
          <a:custGeom>
            <a:avLst/>
            <a:gdLst/>
            <a:ahLst/>
            <a:cxnLst/>
            <a:rect r="r" b="b" t="t" l="l"/>
            <a:pathLst>
              <a:path h="645757" w="11234433">
                <a:moveTo>
                  <a:pt x="0" y="0"/>
                </a:moveTo>
                <a:lnTo>
                  <a:pt x="11234433" y="0"/>
                </a:lnTo>
                <a:lnTo>
                  <a:pt x="11234433" y="645756"/>
                </a:lnTo>
                <a:lnTo>
                  <a:pt x="0" y="64575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597060" y="2813980"/>
            <a:ext cx="7109565" cy="2144449"/>
          </a:xfrm>
          <a:custGeom>
            <a:avLst/>
            <a:gdLst/>
            <a:ahLst/>
            <a:cxnLst/>
            <a:rect r="r" b="b" t="t" l="l"/>
            <a:pathLst>
              <a:path h="2144449" w="7109565">
                <a:moveTo>
                  <a:pt x="0" y="0"/>
                </a:moveTo>
                <a:lnTo>
                  <a:pt x="7109565" y="0"/>
                </a:lnTo>
                <a:lnTo>
                  <a:pt x="7109565" y="2144449"/>
                </a:lnTo>
                <a:lnTo>
                  <a:pt x="0" y="214444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11719" y="522923"/>
            <a:ext cx="1266758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ILLUSTRATIVE EXAMPLE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40439" y="6458626"/>
            <a:ext cx="131045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15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8640" y="305705"/>
            <a:ext cx="4235215" cy="60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Metadata Gap Detection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26324" y="1323080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4088" y="1323080"/>
            <a:ext cx="412090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Case</a:t>
            </a:r>
            <a:r>
              <a:rPr lang="en-US" b="true" sz="1199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  <a:r>
              <a:rPr lang="en-US" b="true" sz="1199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050363" y="1323080"/>
            <a:ext cx="412090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Case</a:t>
            </a:r>
            <a:r>
              <a:rPr lang="en-US" b="true" sz="1199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  <a:r>
              <a:rPr lang="en-US" b="true" sz="1199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739402" y="2983040"/>
            <a:ext cx="857117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Source / field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739402" y="3483826"/>
            <a:ext cx="1418330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customers.csv / phone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739402" y="3986746"/>
            <a:ext cx="1415377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employees.csv / salary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739402" y="4489666"/>
            <a:ext cx="1854965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employees.csv / blood_group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66639" y="1323080"/>
            <a:ext cx="41209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Case 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82602" y="2983040"/>
            <a:ext cx="319516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Class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482602" y="3483826"/>
            <a:ext cx="486185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Contact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482602" y="3986746"/>
            <a:ext cx="555307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Financial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482602" y="4489666"/>
            <a:ext cx="1033882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Sensitive/Health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683277" y="1323080"/>
            <a:ext cx="41209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9FB0C8"/>
                </a:solidFill>
                <a:latin typeface="Carlito Bold"/>
                <a:ea typeface="Carlito Bold"/>
                <a:cs typeface="Carlito Bold"/>
                <a:sym typeface="Carlito Bold"/>
              </a:rPr>
              <a:t>Case 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311402" y="2983040"/>
            <a:ext cx="679571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Gap status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11402" y="3483826"/>
            <a:ext cx="876071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Retention gap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311402" y="3986746"/>
            <a:ext cx="1510598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Purpose + retention gap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311402" y="4489666"/>
            <a:ext cx="777126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Purpose gap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54719" y="3350362"/>
            <a:ext cx="1899161" cy="110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2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source_type, source_name field_name, detected_class purpose gap / retention gap gap status and review note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31168" y="1763906"/>
            <a:ext cx="2205238" cy="792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b="true" sz="1301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Purpose + retention present</a:t>
            </a:r>
          </a:p>
          <a:p>
            <a:pPr algn="l">
              <a:lnSpc>
                <a:spcPts val="1561"/>
              </a:lnSpc>
              <a:spcBef>
                <a:spcPts val="1320"/>
              </a:spcBef>
            </a:pPr>
            <a:r>
              <a:rPr lang="en-US" b="true" sz="1301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No metadata gap for these two fields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547443" y="1640081"/>
            <a:ext cx="1740894" cy="717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b="true" sz="1301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Purpose missing or blank </a:t>
            </a:r>
            <a:r>
              <a:rPr lang="en-US" b="true" sz="1301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Purpose gap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363719" y="1640081"/>
            <a:ext cx="1854660" cy="717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b="true" sz="1301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Retention missing or blank </a:t>
            </a:r>
            <a:r>
              <a:rPr lang="en-US" b="true" sz="1301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Retention gap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180357" y="1640081"/>
            <a:ext cx="1666904" cy="717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b="true" sz="1301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Both missing</a:t>
            </a:r>
          </a:p>
          <a:p>
            <a:pPr algn="l">
              <a:lnSpc>
                <a:spcPts val="2883"/>
              </a:lnSpc>
            </a:pPr>
            <a:r>
              <a:rPr lang="en-US" b="true" sz="1301">
                <a:solidFill>
                  <a:srgbClr val="F87171"/>
                </a:solidFill>
                <a:latin typeface="Carlito Bold"/>
                <a:ea typeface="Carlito Bold"/>
                <a:cs typeface="Carlito Bold"/>
                <a:sym typeface="Carlito Bold"/>
              </a:rPr>
              <a:t>Purpose + retention gap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76888" y="2943520"/>
            <a:ext cx="1977390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Expected gap-report fields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76888" y="3392672"/>
            <a:ext cx="59836" cy="1067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62"/>
              </a:lnSpc>
            </a:pPr>
            <a:r>
              <a:rPr lang="en-US" sz="1301" spc="-2">
                <a:solidFill>
                  <a:srgbClr val="E8EEF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 • • •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663088" y="4850492"/>
            <a:ext cx="3176749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i="true">
                <a:solidFill>
                  <a:srgbClr val="9FB0C8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Illustrative; confirm against reports/evidence_gaps.csv.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497684" y="5851617"/>
            <a:ext cx="7325173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A metadata gap is a technical observation. It is not, by itself, proof of legal non-compliance.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108" y="1074820"/>
            <a:ext cx="3793960" cy="5119840"/>
          </a:xfrm>
          <a:custGeom>
            <a:avLst/>
            <a:gdLst/>
            <a:ahLst/>
            <a:cxnLst/>
            <a:rect r="r" b="b" t="t" l="l"/>
            <a:pathLst>
              <a:path h="5119840" w="3793960">
                <a:moveTo>
                  <a:pt x="0" y="0"/>
                </a:moveTo>
                <a:lnTo>
                  <a:pt x="3793960" y="0"/>
                </a:lnTo>
                <a:lnTo>
                  <a:pt x="3793960" y="5119840"/>
                </a:lnTo>
                <a:lnTo>
                  <a:pt x="0" y="5119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20588" y="1074820"/>
            <a:ext cx="3793960" cy="2559520"/>
          </a:xfrm>
          <a:custGeom>
            <a:avLst/>
            <a:gdLst/>
            <a:ahLst/>
            <a:cxnLst/>
            <a:rect r="r" b="b" t="t" l="l"/>
            <a:pathLst>
              <a:path h="2559520" w="3793960">
                <a:moveTo>
                  <a:pt x="0" y="0"/>
                </a:moveTo>
                <a:lnTo>
                  <a:pt x="3793960" y="0"/>
                </a:lnTo>
                <a:lnTo>
                  <a:pt x="3793960" y="2559520"/>
                </a:lnTo>
                <a:lnTo>
                  <a:pt x="0" y="2559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0588" y="3635140"/>
            <a:ext cx="3793960" cy="2559520"/>
          </a:xfrm>
          <a:custGeom>
            <a:avLst/>
            <a:gdLst/>
            <a:ahLst/>
            <a:cxnLst/>
            <a:rect r="r" b="b" t="t" l="l"/>
            <a:pathLst>
              <a:path h="2559520" w="3793960">
                <a:moveTo>
                  <a:pt x="0" y="0"/>
                </a:moveTo>
                <a:lnTo>
                  <a:pt x="3793960" y="0"/>
                </a:lnTo>
                <a:lnTo>
                  <a:pt x="3793960" y="2559520"/>
                </a:lnTo>
                <a:lnTo>
                  <a:pt x="0" y="25595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61068" y="1074820"/>
            <a:ext cx="3546996" cy="1553680"/>
          </a:xfrm>
          <a:custGeom>
            <a:avLst/>
            <a:gdLst/>
            <a:ahLst/>
            <a:cxnLst/>
            <a:rect r="r" b="b" t="t" l="l"/>
            <a:pathLst>
              <a:path h="1553680" w="3546996">
                <a:moveTo>
                  <a:pt x="0" y="0"/>
                </a:moveTo>
                <a:lnTo>
                  <a:pt x="3546995" y="0"/>
                </a:lnTo>
                <a:lnTo>
                  <a:pt x="3546995" y="1553680"/>
                </a:lnTo>
                <a:lnTo>
                  <a:pt x="0" y="15536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61068" y="2629300"/>
            <a:ext cx="3546996" cy="2468080"/>
          </a:xfrm>
          <a:custGeom>
            <a:avLst/>
            <a:gdLst/>
            <a:ahLst/>
            <a:cxnLst/>
            <a:rect r="r" b="b" t="t" l="l"/>
            <a:pathLst>
              <a:path h="2468080" w="3546996">
                <a:moveTo>
                  <a:pt x="0" y="0"/>
                </a:moveTo>
                <a:lnTo>
                  <a:pt x="3546995" y="0"/>
                </a:lnTo>
                <a:lnTo>
                  <a:pt x="3546995" y="2468080"/>
                </a:lnTo>
                <a:lnTo>
                  <a:pt x="0" y="24680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61068" y="5098180"/>
            <a:ext cx="3546996" cy="1096480"/>
          </a:xfrm>
          <a:custGeom>
            <a:avLst/>
            <a:gdLst/>
            <a:ahLst/>
            <a:cxnLst/>
            <a:rect r="r" b="b" t="t" l="l"/>
            <a:pathLst>
              <a:path h="1096480" w="3546996">
                <a:moveTo>
                  <a:pt x="0" y="0"/>
                </a:moveTo>
                <a:lnTo>
                  <a:pt x="3546995" y="0"/>
                </a:lnTo>
                <a:lnTo>
                  <a:pt x="3546995" y="1096480"/>
                </a:lnTo>
                <a:lnTo>
                  <a:pt x="0" y="10964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29920" y="1272807"/>
            <a:ext cx="801424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IMPLEMENTED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29920" y="3833127"/>
            <a:ext cx="801424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IMPLEMENTED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64206" y="2827287"/>
            <a:ext cx="515226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A78BFA"/>
                </a:solidFill>
                <a:latin typeface="Carlito Bold"/>
                <a:ea typeface="Carlito Bold"/>
                <a:cs typeface="Carlito Bold"/>
                <a:sym typeface="Carlito Bold"/>
              </a:rPr>
              <a:t>PLANNED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23436" y="1272807"/>
            <a:ext cx="801424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IMPLEMENTED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23436" y="5296167"/>
            <a:ext cx="801424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IMPLEMENTED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40439" y="6458626"/>
            <a:ext cx="131045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16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8640" y="305705"/>
            <a:ext cx="4352954" cy="60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Technical Stack Explained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1168" y="1188539"/>
            <a:ext cx="1267644" cy="681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Core processing</a:t>
            </a:r>
          </a:p>
          <a:p>
            <a:pPr algn="l">
              <a:lnSpc>
                <a:spcPts val="1960"/>
              </a:lnSpc>
            </a:pPr>
            <a:r>
              <a:rPr lang="en-US" b="true" sz="1400" spc="4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Python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89440" y="1272807"/>
            <a:ext cx="801424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IMPLEMENTED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71648" y="1188539"/>
            <a:ext cx="751532" cy="681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Database</a:t>
            </a:r>
          </a:p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SQLite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71648" y="3748859"/>
            <a:ext cx="1755200" cy="681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A78BFA"/>
                </a:solidFill>
                <a:latin typeface="Carlito Bold"/>
                <a:ea typeface="Carlito Bold"/>
                <a:cs typeface="Carlito Bold"/>
                <a:sym typeface="Carlito Bold"/>
              </a:rPr>
              <a:t>Validation and testing</a:t>
            </a:r>
          </a:p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Pydantic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12128" y="1188539"/>
            <a:ext cx="578263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Output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94001" y="1598914"/>
            <a:ext cx="40996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12128" y="5211899"/>
            <a:ext cx="790966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Workflow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29802" y="5622274"/>
            <a:ext cx="40996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12128" y="2762069"/>
            <a:ext cx="1378944" cy="84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0"/>
              </a:lnSpc>
            </a:pPr>
            <a:r>
              <a:rPr lang="en-US" b="true" sz="1499">
                <a:solidFill>
                  <a:srgbClr val="A78BFA"/>
                </a:solidFill>
                <a:latin typeface="Carlito Bold"/>
                <a:ea typeface="Carlito Bold"/>
                <a:cs typeface="Carlito Bold"/>
                <a:sym typeface="Carlito Bold"/>
              </a:rPr>
              <a:t>API and interface</a:t>
            </a:r>
          </a:p>
          <a:p>
            <a:pPr algn="l">
              <a:lnSpc>
                <a:spcPts val="1727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FastAPI</a:t>
            </a:r>
          </a:p>
          <a:p>
            <a:pPr algn="l">
              <a:lnSpc>
                <a:spcPts val="1479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API layer, if built.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5639" y="1808750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1168" y="2376154"/>
            <a:ext cx="539467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Pandas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8023" y="2585990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1168" y="3153394"/>
            <a:ext cx="2349694" cy="450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1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Python re</a:t>
            </a:r>
          </a:p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Regular-expression pattern matching.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1168" y="3930634"/>
            <a:ext cx="884482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JSON config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0659" y="4140470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127031" y="4369070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571648" y="4936474"/>
            <a:ext cx="469630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Pytest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834795" y="5146310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886573" y="1808750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571648" y="2376154"/>
            <a:ext cx="936908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SQLAlchemy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142109" y="2585990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412128" y="1598914"/>
            <a:ext cx="1042292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CSVand</a:t>
            </a:r>
            <a:r>
              <a:rPr lang="en-US" b="true" sz="140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JSON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101518" y="1808750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412128" y="5622274"/>
            <a:ext cx="1122293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Git</a:t>
            </a:r>
            <a:r>
              <a:rPr lang="en-US" b="true" sz="140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and</a:t>
            </a:r>
            <a:r>
              <a:rPr lang="en-US" b="true" sz="140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GitHub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871109" y="5832110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412128" y="3930634"/>
            <a:ext cx="1174709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1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HTML / CSS / JS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30455" y="4140470"/>
            <a:ext cx="3510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31168" y="1808750"/>
            <a:ext cx="2019310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Scannerlogicand orchestration.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31168" y="2585990"/>
            <a:ext cx="2343636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ReadsCSVsandhandles tabular data.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31168" y="4140470"/>
            <a:ext cx="2652131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Editabledetection rules, no code changes.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571648" y="5146310"/>
            <a:ext cx="1600533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Unitandregression tests.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571648" y="1808750"/>
            <a:ext cx="2057991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Localstructureddemo database.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571648" y="2585990"/>
            <a:ext cx="2301078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Connectstoandinspects SQL tables.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571648" y="4369070"/>
            <a:ext cx="2718768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Validatesfindings and metadata structures.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412128" y="5832110"/>
            <a:ext cx="988838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Version</a:t>
            </a:r>
            <a:r>
              <a:rPr lang="en-US" sz="11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control.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412128" y="4140470"/>
            <a:ext cx="1422987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Lightweight</a:t>
            </a:r>
            <a:r>
              <a:rPr lang="en-US" sz="11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UI,</a:t>
            </a:r>
            <a:r>
              <a:rPr lang="en-US" sz="11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if</a:t>
            </a:r>
            <a:r>
              <a:rPr lang="en-US" sz="11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built.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412128" y="1808750"/>
            <a:ext cx="1770621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Inventoriesandgap reports.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108" y="2080308"/>
            <a:ext cx="3702520" cy="1599400"/>
          </a:xfrm>
          <a:custGeom>
            <a:avLst/>
            <a:gdLst/>
            <a:ahLst/>
            <a:cxnLst/>
            <a:rect r="r" b="b" t="t" l="l"/>
            <a:pathLst>
              <a:path h="1599400" w="3702520">
                <a:moveTo>
                  <a:pt x="0" y="0"/>
                </a:moveTo>
                <a:lnTo>
                  <a:pt x="3702520" y="0"/>
                </a:lnTo>
                <a:lnTo>
                  <a:pt x="3702520" y="1599400"/>
                </a:lnTo>
                <a:lnTo>
                  <a:pt x="0" y="159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0108" y="3771948"/>
            <a:ext cx="5531320" cy="2148040"/>
          </a:xfrm>
          <a:custGeom>
            <a:avLst/>
            <a:gdLst/>
            <a:ahLst/>
            <a:cxnLst/>
            <a:rect r="r" b="b" t="t" l="l"/>
            <a:pathLst>
              <a:path h="2148040" w="5531320">
                <a:moveTo>
                  <a:pt x="0" y="0"/>
                </a:moveTo>
                <a:lnTo>
                  <a:pt x="5531320" y="0"/>
                </a:lnTo>
                <a:lnTo>
                  <a:pt x="5531320" y="2148040"/>
                </a:lnTo>
                <a:lnTo>
                  <a:pt x="0" y="2148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29148" y="2080308"/>
            <a:ext cx="3702520" cy="1599400"/>
          </a:xfrm>
          <a:custGeom>
            <a:avLst/>
            <a:gdLst/>
            <a:ahLst/>
            <a:cxnLst/>
            <a:rect r="r" b="b" t="t" l="l"/>
            <a:pathLst>
              <a:path h="1599400" w="3702520">
                <a:moveTo>
                  <a:pt x="0" y="0"/>
                </a:moveTo>
                <a:lnTo>
                  <a:pt x="3702520" y="0"/>
                </a:lnTo>
                <a:lnTo>
                  <a:pt x="3702520" y="1599400"/>
                </a:lnTo>
                <a:lnTo>
                  <a:pt x="0" y="1599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49388" y="3771948"/>
            <a:ext cx="5558676" cy="2148040"/>
          </a:xfrm>
          <a:custGeom>
            <a:avLst/>
            <a:gdLst/>
            <a:ahLst/>
            <a:cxnLst/>
            <a:rect r="r" b="b" t="t" l="l"/>
            <a:pathLst>
              <a:path h="2148040" w="5558676">
                <a:moveTo>
                  <a:pt x="0" y="0"/>
                </a:moveTo>
                <a:lnTo>
                  <a:pt x="5558675" y="0"/>
                </a:lnTo>
                <a:lnTo>
                  <a:pt x="5558675" y="2148040"/>
                </a:lnTo>
                <a:lnTo>
                  <a:pt x="0" y="21480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78188" y="2080308"/>
            <a:ext cx="3702520" cy="1599400"/>
          </a:xfrm>
          <a:custGeom>
            <a:avLst/>
            <a:gdLst/>
            <a:ahLst/>
            <a:cxnLst/>
            <a:rect r="r" b="b" t="t" l="l"/>
            <a:pathLst>
              <a:path h="1599400" w="3702520">
                <a:moveTo>
                  <a:pt x="0" y="0"/>
                </a:moveTo>
                <a:lnTo>
                  <a:pt x="3702520" y="0"/>
                </a:lnTo>
                <a:lnTo>
                  <a:pt x="3702520" y="1599400"/>
                </a:lnTo>
                <a:lnTo>
                  <a:pt x="0" y="1599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77222" y="1117302"/>
            <a:ext cx="11234433" cy="828637"/>
          </a:xfrm>
          <a:custGeom>
            <a:avLst/>
            <a:gdLst/>
            <a:ahLst/>
            <a:cxnLst/>
            <a:rect r="r" b="b" t="t" l="l"/>
            <a:pathLst>
              <a:path h="828637" w="11234433">
                <a:moveTo>
                  <a:pt x="0" y="0"/>
                </a:moveTo>
                <a:lnTo>
                  <a:pt x="11234432" y="0"/>
                </a:lnTo>
                <a:lnTo>
                  <a:pt x="11234432" y="828636"/>
                </a:lnTo>
                <a:lnTo>
                  <a:pt x="0" y="8286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40439" y="6458626"/>
            <a:ext cx="131045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17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8640" y="305705"/>
            <a:ext cx="4214489" cy="60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Evaluation Methodology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7771" y="1293990"/>
            <a:ext cx="40996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1844" y="1293990"/>
            <a:ext cx="993496" cy="43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Ground</a:t>
            </a:r>
            <a:r>
              <a:rPr lang="en-US" b="true" sz="140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truth</a:t>
            </a:r>
          </a:p>
          <a:p>
            <a:pPr algn="ctr">
              <a:lnSpc>
                <a:spcPts val="1539"/>
              </a:lnSpc>
            </a:pPr>
            <a:r>
              <a:rPr lang="en-US" sz="1099" spc="1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manual</a:t>
            </a:r>
            <a:r>
              <a:rPr lang="en-US" sz="1099" spc="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 spc="1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labels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6888" y="5071148"/>
            <a:ext cx="3601050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Computed separately for each of the five classes.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82681" y="1377877"/>
            <a:ext cx="1485262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Scannerpredictions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58637" y="1293990"/>
            <a:ext cx="479241" cy="43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Match</a:t>
            </a:r>
            <a:r>
              <a:rPr lang="en-US" sz="14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05880" y="1377877"/>
            <a:ext cx="1163650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Compare labels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46168" y="3907193"/>
            <a:ext cx="3747078" cy="1019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1"/>
              </a:lnSpc>
            </a:pPr>
            <a:r>
              <a:rPr lang="en-US" b="true" sz="14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High precision: </a:t>
            </a:r>
            <a:r>
              <a:rPr lang="en-US" sz="14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fewer incorrect flags.</a:t>
            </a:r>
          </a:p>
          <a:p>
            <a:pPr algn="l">
              <a:lnSpc>
                <a:spcPts val="2681"/>
              </a:lnSpc>
            </a:pPr>
            <a:r>
              <a:rPr lang="en-US" b="true" sz="14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High recall: </a:t>
            </a:r>
            <a:r>
              <a:rPr lang="en-US" sz="14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more real positives found.</a:t>
            </a:r>
          </a:p>
          <a:p>
            <a:pPr algn="l">
              <a:lnSpc>
                <a:spcPts val="2681"/>
              </a:lnSpc>
            </a:pPr>
            <a:r>
              <a:rPr lang="en-US" sz="1400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•Both matter; improving one can lower the other.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85473" y="1293990"/>
            <a:ext cx="963368" cy="43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Calculate</a:t>
            </a:r>
          </a:p>
          <a:p>
            <a:pPr algn="ctr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metrics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per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class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07154" y="1512789"/>
            <a:ext cx="32194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13924" y="1512789"/>
            <a:ext cx="774602" cy="21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source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+</a:t>
            </a:r>
            <a:r>
              <a:rPr lang="en-US" sz="10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099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field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1168" y="2194436"/>
            <a:ext cx="1485081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True Positive (TP)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10239" y="2647779"/>
            <a:ext cx="38090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480208" y="2194436"/>
            <a:ext cx="1525048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False Positive (FP)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014922" y="2647779"/>
            <a:ext cx="38090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29248" y="2194436"/>
            <a:ext cx="1635014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F87171"/>
                </a:solidFill>
                <a:latin typeface="Carlito Bold"/>
                <a:ea typeface="Carlito Bold"/>
                <a:cs typeface="Carlito Bold"/>
                <a:sym typeface="Carlito Bold"/>
              </a:rPr>
              <a:t>False Negative (FN)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77602" y="2647779"/>
            <a:ext cx="38090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1168" y="2647779"/>
            <a:ext cx="2821943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Scanner flagsa fieldAND the label says it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1168" y="2846137"/>
            <a:ext cx="1429931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belongs to that class.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480208" y="2647779"/>
            <a:ext cx="3109646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Scannerflagsafieldbut the label says it does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480208" y="2846137"/>
            <a:ext cx="779183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not belong.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229248" y="2647779"/>
            <a:ext cx="2830868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Thelabelsaysitbelongs,but the scanner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229248" y="2846137"/>
            <a:ext cx="650072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missed it.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76888" y="3842175"/>
            <a:ext cx="4050497" cy="1039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001" spc="10">
                <a:solidFill>
                  <a:srgbClr val="22D3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Precision = TP / (TP + FP) </a:t>
            </a:r>
            <a:r>
              <a:rPr lang="en-US" b="true" sz="2001" spc="10">
                <a:solidFill>
                  <a:srgbClr val="2DD4B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Recall = TP / (TP + FN)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108" y="4138060"/>
            <a:ext cx="5531320" cy="1645120"/>
          </a:xfrm>
          <a:custGeom>
            <a:avLst/>
            <a:gdLst/>
            <a:ahLst/>
            <a:cxnLst/>
            <a:rect r="r" b="b" t="t" l="l"/>
            <a:pathLst>
              <a:path h="1645120" w="5531320">
                <a:moveTo>
                  <a:pt x="0" y="0"/>
                </a:moveTo>
                <a:lnTo>
                  <a:pt x="5531320" y="0"/>
                </a:lnTo>
                <a:lnTo>
                  <a:pt x="5531320" y="1645120"/>
                </a:lnTo>
                <a:lnTo>
                  <a:pt x="0" y="1645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49388" y="4138060"/>
            <a:ext cx="5558676" cy="1645120"/>
          </a:xfrm>
          <a:custGeom>
            <a:avLst/>
            <a:gdLst/>
            <a:ahLst/>
            <a:cxnLst/>
            <a:rect r="r" b="b" t="t" l="l"/>
            <a:pathLst>
              <a:path h="1645120" w="5558676">
                <a:moveTo>
                  <a:pt x="0" y="0"/>
                </a:moveTo>
                <a:lnTo>
                  <a:pt x="5558675" y="0"/>
                </a:lnTo>
                <a:lnTo>
                  <a:pt x="5558675" y="1645120"/>
                </a:lnTo>
                <a:lnTo>
                  <a:pt x="0" y="1645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82408" y="432768"/>
            <a:ext cx="2699918" cy="413918"/>
          </a:xfrm>
          <a:custGeom>
            <a:avLst/>
            <a:gdLst/>
            <a:ahLst/>
            <a:cxnLst/>
            <a:rect r="r" b="b" t="t" l="l"/>
            <a:pathLst>
              <a:path h="413918" w="2699918">
                <a:moveTo>
                  <a:pt x="0" y="0"/>
                </a:moveTo>
                <a:lnTo>
                  <a:pt x="2699919" y="0"/>
                </a:lnTo>
                <a:lnTo>
                  <a:pt x="2699919" y="413919"/>
                </a:lnTo>
                <a:lnTo>
                  <a:pt x="0" y="4139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2260" y="1122340"/>
            <a:ext cx="11224365" cy="2875969"/>
          </a:xfrm>
          <a:custGeom>
            <a:avLst/>
            <a:gdLst/>
            <a:ahLst/>
            <a:cxnLst/>
            <a:rect r="r" b="b" t="t" l="l"/>
            <a:pathLst>
              <a:path h="2875969" w="11224365">
                <a:moveTo>
                  <a:pt x="0" y="0"/>
                </a:moveTo>
                <a:lnTo>
                  <a:pt x="11224365" y="0"/>
                </a:lnTo>
                <a:lnTo>
                  <a:pt x="11224365" y="2875969"/>
                </a:lnTo>
                <a:lnTo>
                  <a:pt x="0" y="28759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39084" y="522923"/>
            <a:ext cx="1209589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EVALUATION PENDING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40439" y="6458626"/>
            <a:ext cx="131045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18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8640" y="305705"/>
            <a:ext cx="3127496" cy="60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Evaluation Results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4602" y="1101280"/>
            <a:ext cx="1293524" cy="270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b="true" sz="1400" spc="1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Class</a:t>
            </a:r>
          </a:p>
          <a:p>
            <a:pPr algn="just">
              <a:lnSpc>
                <a:spcPts val="3500"/>
              </a:lnSpc>
            </a:pPr>
            <a:r>
              <a:rPr lang="en-US" sz="1400" spc="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Identity</a:t>
            </a:r>
          </a:p>
          <a:p>
            <a:pPr algn="just">
              <a:lnSpc>
                <a:spcPts val="3500"/>
              </a:lnSpc>
            </a:pPr>
            <a:r>
              <a:rPr lang="en-US" sz="1400" spc="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Contact</a:t>
            </a:r>
          </a:p>
          <a:p>
            <a:pPr algn="just">
              <a:lnSpc>
                <a:spcPts val="3500"/>
              </a:lnSpc>
            </a:pPr>
            <a:r>
              <a:rPr lang="en-US" sz="1400" spc="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Location Financial Sensitive / Health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67802" y="1253680"/>
            <a:ext cx="185023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TP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65956" y="1555994"/>
            <a:ext cx="151648" cy="225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14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[ ] [ ] [ ] [ ] [ 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65082" y="1253680"/>
            <a:ext cx="178851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FP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63236" y="1555994"/>
            <a:ext cx="151648" cy="225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14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[ ] [ ] [ ] [ ] [ ]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62362" y="1253680"/>
            <a:ext cx="201711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FN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60516" y="1555994"/>
            <a:ext cx="151648" cy="225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14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[ ] [ ] [ ] [ ] [ ]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59642" y="1253680"/>
            <a:ext cx="682409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Precision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86396" y="1555994"/>
            <a:ext cx="151648" cy="225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14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[ ] [ ] [ ] [ ] [ ]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14122" y="1253680"/>
            <a:ext cx="443694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Recall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40876" y="1555994"/>
            <a:ext cx="151648" cy="225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14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[ ] [ ] [ ] [ ] [ ]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68602" y="1253680"/>
            <a:ext cx="1340872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1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Labelled positives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91914" y="1555994"/>
            <a:ext cx="151648" cy="225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14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[ ] [ ] [ ] [ ] [ ]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6888" y="4270143"/>
            <a:ext cx="1994316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No results are shown yet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4101" y="4659459"/>
            <a:ext cx="38090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46168" y="4270143"/>
            <a:ext cx="1276388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Caveats to state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50687" y="4659459"/>
            <a:ext cx="38090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6888" y="4659459"/>
            <a:ext cx="4710484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Fillthistablefrom the latestverified evaluation run. No percentages,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6888" y="4857817"/>
            <a:ext cx="3853434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confusion matrices or accuracy claims are invented here.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24361" y="4659459"/>
            <a:ext cx="3078290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Small labelledsample (84 fields per the brief)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24361" y="4921177"/>
            <a:ext cx="3021663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Class imbalance can distort per-class metrics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446520" y="4682719"/>
            <a:ext cx="59836" cy="495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60"/>
              </a:lnSpc>
            </a:pPr>
            <a:r>
              <a:rPr lang="en-US" sz="1301" spc="-2">
                <a:solidFill>
                  <a:srgbClr val="E8EEF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 •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108" y="1120540"/>
            <a:ext cx="3611080" cy="3656800"/>
          </a:xfrm>
          <a:custGeom>
            <a:avLst/>
            <a:gdLst/>
            <a:ahLst/>
            <a:cxnLst/>
            <a:rect r="r" b="b" t="t" l="l"/>
            <a:pathLst>
              <a:path h="3656800" w="3611080">
                <a:moveTo>
                  <a:pt x="0" y="0"/>
                </a:moveTo>
                <a:lnTo>
                  <a:pt x="3611080" y="0"/>
                </a:lnTo>
                <a:lnTo>
                  <a:pt x="3611080" y="3656800"/>
                </a:lnTo>
                <a:lnTo>
                  <a:pt x="0" y="3656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29148" y="1120540"/>
            <a:ext cx="3702520" cy="1187920"/>
          </a:xfrm>
          <a:custGeom>
            <a:avLst/>
            <a:gdLst/>
            <a:ahLst/>
            <a:cxnLst/>
            <a:rect r="r" b="b" t="t" l="l"/>
            <a:pathLst>
              <a:path h="1187920" w="3702520">
                <a:moveTo>
                  <a:pt x="0" y="0"/>
                </a:moveTo>
                <a:lnTo>
                  <a:pt x="3702520" y="0"/>
                </a:lnTo>
                <a:lnTo>
                  <a:pt x="3702520" y="1187920"/>
                </a:lnTo>
                <a:lnTo>
                  <a:pt x="0" y="11879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29148" y="2309260"/>
            <a:ext cx="3702520" cy="1187920"/>
          </a:xfrm>
          <a:custGeom>
            <a:avLst/>
            <a:gdLst/>
            <a:ahLst/>
            <a:cxnLst/>
            <a:rect r="r" b="b" t="t" l="l"/>
            <a:pathLst>
              <a:path h="1187920" w="3702520">
                <a:moveTo>
                  <a:pt x="0" y="0"/>
                </a:moveTo>
                <a:lnTo>
                  <a:pt x="3702520" y="0"/>
                </a:lnTo>
                <a:lnTo>
                  <a:pt x="3702520" y="1187920"/>
                </a:lnTo>
                <a:lnTo>
                  <a:pt x="0" y="11879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29148" y="3497980"/>
            <a:ext cx="3702520" cy="1187920"/>
          </a:xfrm>
          <a:custGeom>
            <a:avLst/>
            <a:gdLst/>
            <a:ahLst/>
            <a:cxnLst/>
            <a:rect r="r" b="b" t="t" l="l"/>
            <a:pathLst>
              <a:path h="1187920" w="3702520">
                <a:moveTo>
                  <a:pt x="0" y="0"/>
                </a:moveTo>
                <a:lnTo>
                  <a:pt x="3702520" y="0"/>
                </a:lnTo>
                <a:lnTo>
                  <a:pt x="3702520" y="1187920"/>
                </a:lnTo>
                <a:lnTo>
                  <a:pt x="0" y="11879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6869" y="5048869"/>
            <a:ext cx="11234433" cy="782917"/>
          </a:xfrm>
          <a:custGeom>
            <a:avLst/>
            <a:gdLst/>
            <a:ahLst/>
            <a:cxnLst/>
            <a:rect r="r" b="b" t="t" l="l"/>
            <a:pathLst>
              <a:path h="782917" w="11234433">
                <a:moveTo>
                  <a:pt x="0" y="0"/>
                </a:moveTo>
                <a:lnTo>
                  <a:pt x="11234433" y="0"/>
                </a:lnTo>
                <a:lnTo>
                  <a:pt x="11234433" y="782917"/>
                </a:lnTo>
                <a:lnTo>
                  <a:pt x="0" y="7829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32468" y="1120540"/>
            <a:ext cx="3702520" cy="1187920"/>
          </a:xfrm>
          <a:custGeom>
            <a:avLst/>
            <a:gdLst/>
            <a:ahLst/>
            <a:cxnLst/>
            <a:rect r="r" b="b" t="t" l="l"/>
            <a:pathLst>
              <a:path h="1187920" w="3702520">
                <a:moveTo>
                  <a:pt x="0" y="0"/>
                </a:moveTo>
                <a:lnTo>
                  <a:pt x="3702520" y="0"/>
                </a:lnTo>
                <a:lnTo>
                  <a:pt x="3702520" y="1187920"/>
                </a:lnTo>
                <a:lnTo>
                  <a:pt x="0" y="11879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32468" y="2309260"/>
            <a:ext cx="3702520" cy="1187920"/>
          </a:xfrm>
          <a:custGeom>
            <a:avLst/>
            <a:gdLst/>
            <a:ahLst/>
            <a:cxnLst/>
            <a:rect r="r" b="b" t="t" l="l"/>
            <a:pathLst>
              <a:path h="1187920" w="3702520">
                <a:moveTo>
                  <a:pt x="0" y="0"/>
                </a:moveTo>
                <a:lnTo>
                  <a:pt x="3702520" y="0"/>
                </a:lnTo>
                <a:lnTo>
                  <a:pt x="3702520" y="1187920"/>
                </a:lnTo>
                <a:lnTo>
                  <a:pt x="0" y="11879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932468" y="3497980"/>
            <a:ext cx="3702520" cy="1187920"/>
          </a:xfrm>
          <a:custGeom>
            <a:avLst/>
            <a:gdLst/>
            <a:ahLst/>
            <a:cxnLst/>
            <a:rect r="r" b="b" t="t" l="l"/>
            <a:pathLst>
              <a:path h="1187920" w="3702520">
                <a:moveTo>
                  <a:pt x="0" y="0"/>
                </a:moveTo>
                <a:lnTo>
                  <a:pt x="3702520" y="0"/>
                </a:lnTo>
                <a:lnTo>
                  <a:pt x="3702520" y="1187920"/>
                </a:lnTo>
                <a:lnTo>
                  <a:pt x="0" y="118792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982408" y="432768"/>
            <a:ext cx="2699918" cy="413918"/>
          </a:xfrm>
          <a:custGeom>
            <a:avLst/>
            <a:gdLst/>
            <a:ahLst/>
            <a:cxnLst/>
            <a:rect r="r" b="b" t="t" l="l"/>
            <a:pathLst>
              <a:path h="413918" w="2699918">
                <a:moveTo>
                  <a:pt x="0" y="0"/>
                </a:moveTo>
                <a:lnTo>
                  <a:pt x="2699919" y="0"/>
                </a:lnTo>
                <a:lnTo>
                  <a:pt x="2699919" y="413919"/>
                </a:lnTo>
                <a:lnTo>
                  <a:pt x="0" y="41391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84998" y="522923"/>
            <a:ext cx="1523400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VERIFY BEFORE PRESENTING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40439" y="6458626"/>
            <a:ext cx="131045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19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8640" y="305705"/>
            <a:ext cx="3748926" cy="60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Testing and Reliability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5598" y="1121007"/>
            <a:ext cx="2669705" cy="2035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8"/>
              </a:lnSpc>
            </a:pPr>
            <a:r>
              <a:rPr lang="en-US" b="true" sz="8798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36</a:t>
            </a:r>
          </a:p>
          <a:p>
            <a:pPr algn="ctr">
              <a:lnSpc>
                <a:spcPts val="2099"/>
              </a:lnSpc>
            </a:pPr>
            <a:r>
              <a:rPr lang="en-US" sz="14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detector</a:t>
            </a:r>
            <a:r>
              <a:rPr lang="en-US" sz="14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4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tests</a:t>
            </a:r>
            <a:r>
              <a:rPr lang="en-US" sz="14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4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reported</a:t>
            </a:r>
            <a:r>
              <a:rPr lang="en-US" sz="14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4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as</a:t>
            </a:r>
            <a:r>
              <a:rPr lang="en-US" sz="14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14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passing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33366" y="2877160"/>
            <a:ext cx="43901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03358" y="5279946"/>
            <a:ext cx="7520788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Passing unit tests show the code behaves as designed. They do not prove real-world accuracy.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7441" y="3626148"/>
            <a:ext cx="2779966" cy="40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199" i="true">
                <a:solidFill>
                  <a:srgbClr val="9FB0C8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Source:existingdevelopmentreport.Re-run pytest</a:t>
            </a:r>
            <a:r>
              <a:rPr lang="en-US" sz="1199" i="true">
                <a:solidFill>
                  <a:srgbClr val="000000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</a:t>
            </a:r>
            <a:r>
              <a:rPr lang="en-US" sz="1199" i="true">
                <a:solidFill>
                  <a:srgbClr val="9FB0C8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to</a:t>
            </a:r>
            <a:r>
              <a:rPr lang="en-US" sz="1199" i="true">
                <a:solidFill>
                  <a:srgbClr val="000000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</a:t>
            </a:r>
            <a:r>
              <a:rPr lang="en-US" sz="1199" i="true">
                <a:solidFill>
                  <a:srgbClr val="9FB0C8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confirm</a:t>
            </a:r>
            <a:r>
              <a:rPr lang="en-US" sz="1199" i="true">
                <a:solidFill>
                  <a:srgbClr val="000000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</a:t>
            </a:r>
            <a:r>
              <a:rPr lang="en-US" sz="1199" i="true">
                <a:solidFill>
                  <a:srgbClr val="9FB0C8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before</a:t>
            </a:r>
            <a:r>
              <a:rPr lang="en-US" sz="1199" i="true">
                <a:solidFill>
                  <a:srgbClr val="000000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</a:t>
            </a:r>
            <a:r>
              <a:rPr lang="en-US" sz="1199" i="true">
                <a:solidFill>
                  <a:srgbClr val="9FB0C8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presenting.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80208" y="1595266"/>
            <a:ext cx="2248424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Right rule fires for the right column.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80208" y="3972706"/>
            <a:ext cx="2452221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Blank purpose or retention is reported.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80208" y="2803036"/>
            <a:ext cx="2944463" cy="40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Ambiguous names like email_status behave as expected.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83528" y="2783986"/>
            <a:ext cx="2326243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Evidence maps to the expected level.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83528" y="3972706"/>
            <a:ext cx="2842565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Later changes do not break earlier behaviour.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83528" y="1595266"/>
            <a:ext cx="2870835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Regexes accept valid and reject invalid values.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480208" y="1233516"/>
            <a:ext cx="1073496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Rule matching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80208" y="3610956"/>
            <a:ext cx="1342682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Missing metadata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80208" y="2422236"/>
            <a:ext cx="1721253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False-positive handling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83528" y="1233516"/>
            <a:ext cx="1290085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Pattern matching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83528" y="2422236"/>
            <a:ext cx="1312574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Confidence levels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183528" y="3610956"/>
            <a:ext cx="1643796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Regression protection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108" y="1120540"/>
            <a:ext cx="3702520" cy="4296880"/>
          </a:xfrm>
          <a:custGeom>
            <a:avLst/>
            <a:gdLst/>
            <a:ahLst/>
            <a:cxnLst/>
            <a:rect r="r" b="b" t="t" l="l"/>
            <a:pathLst>
              <a:path h="4296880" w="3702520">
                <a:moveTo>
                  <a:pt x="0" y="0"/>
                </a:moveTo>
                <a:lnTo>
                  <a:pt x="3702520" y="0"/>
                </a:lnTo>
                <a:lnTo>
                  <a:pt x="3702520" y="4296880"/>
                </a:lnTo>
                <a:lnTo>
                  <a:pt x="0" y="4296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29148" y="1120540"/>
            <a:ext cx="3702520" cy="4296880"/>
          </a:xfrm>
          <a:custGeom>
            <a:avLst/>
            <a:gdLst/>
            <a:ahLst/>
            <a:cxnLst/>
            <a:rect r="r" b="b" t="t" l="l"/>
            <a:pathLst>
              <a:path h="4296880" w="3702520">
                <a:moveTo>
                  <a:pt x="0" y="0"/>
                </a:moveTo>
                <a:lnTo>
                  <a:pt x="3702520" y="0"/>
                </a:lnTo>
                <a:lnTo>
                  <a:pt x="3702520" y="4296880"/>
                </a:lnTo>
                <a:lnTo>
                  <a:pt x="0" y="42968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78188" y="1120540"/>
            <a:ext cx="3702520" cy="4296880"/>
          </a:xfrm>
          <a:custGeom>
            <a:avLst/>
            <a:gdLst/>
            <a:ahLst/>
            <a:cxnLst/>
            <a:rect r="r" b="b" t="t" l="l"/>
            <a:pathLst>
              <a:path h="4296880" w="3702520">
                <a:moveTo>
                  <a:pt x="0" y="0"/>
                </a:moveTo>
                <a:lnTo>
                  <a:pt x="3702520" y="0"/>
                </a:lnTo>
                <a:lnTo>
                  <a:pt x="3702520" y="4296880"/>
                </a:lnTo>
                <a:lnTo>
                  <a:pt x="0" y="42968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68680" y="1462669"/>
            <a:ext cx="273968" cy="273968"/>
            <a:chOff x="0" y="0"/>
            <a:chExt cx="365290" cy="36529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365252" cy="365252"/>
            </a:xfrm>
            <a:custGeom>
              <a:avLst/>
              <a:gdLst/>
              <a:ahLst/>
              <a:cxnLst/>
              <a:rect r="r" b="b" t="t" l="l"/>
              <a:pathLst>
                <a:path h="365252" w="365252">
                  <a:moveTo>
                    <a:pt x="0" y="0"/>
                  </a:moveTo>
                  <a:lnTo>
                    <a:pt x="365252" y="0"/>
                  </a:lnTo>
                  <a:lnTo>
                    <a:pt x="365252" y="365252"/>
                  </a:lnTo>
                  <a:lnTo>
                    <a:pt x="0" y="365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0" b="-1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617720" y="1462669"/>
            <a:ext cx="273968" cy="273968"/>
            <a:chOff x="0" y="0"/>
            <a:chExt cx="365290" cy="36529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365252" cy="365252"/>
            </a:xfrm>
            <a:custGeom>
              <a:avLst/>
              <a:gdLst/>
              <a:ahLst/>
              <a:cxnLst/>
              <a:rect r="r" b="b" t="t" l="l"/>
              <a:pathLst>
                <a:path h="365252" w="365252">
                  <a:moveTo>
                    <a:pt x="0" y="0"/>
                  </a:moveTo>
                  <a:lnTo>
                    <a:pt x="365252" y="0"/>
                  </a:lnTo>
                  <a:lnTo>
                    <a:pt x="365252" y="365252"/>
                  </a:lnTo>
                  <a:lnTo>
                    <a:pt x="0" y="365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0" b="-1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366760" y="1462669"/>
            <a:ext cx="273968" cy="273968"/>
            <a:chOff x="0" y="0"/>
            <a:chExt cx="365290" cy="36529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365252" cy="365252"/>
            </a:xfrm>
            <a:custGeom>
              <a:avLst/>
              <a:gdLst/>
              <a:ahLst/>
              <a:cxnLst/>
              <a:rect r="r" b="b" t="t" l="l"/>
              <a:pathLst>
                <a:path h="365252" w="365252">
                  <a:moveTo>
                    <a:pt x="0" y="0"/>
                  </a:moveTo>
                  <a:lnTo>
                    <a:pt x="365252" y="0"/>
                  </a:lnTo>
                  <a:lnTo>
                    <a:pt x="365252" y="365252"/>
                  </a:lnTo>
                  <a:lnTo>
                    <a:pt x="0" y="365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10" b="-1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476869" y="5506069"/>
            <a:ext cx="11234433" cy="691477"/>
          </a:xfrm>
          <a:custGeom>
            <a:avLst/>
            <a:gdLst/>
            <a:ahLst/>
            <a:cxnLst/>
            <a:rect r="r" b="b" t="t" l="l"/>
            <a:pathLst>
              <a:path h="691477" w="11234433">
                <a:moveTo>
                  <a:pt x="0" y="0"/>
                </a:moveTo>
                <a:lnTo>
                  <a:pt x="11234433" y="0"/>
                </a:lnTo>
                <a:lnTo>
                  <a:pt x="11234433" y="691477"/>
                </a:lnTo>
                <a:lnTo>
                  <a:pt x="0" y="6914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40439" y="6458626"/>
            <a:ext cx="131045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20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8640" y="305705"/>
            <a:ext cx="5660022" cy="1427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Security, Privacy, and Limitations</a:t>
            </a:r>
          </a:p>
          <a:p>
            <a:pPr algn="r">
              <a:lnSpc>
                <a:spcPts val="2238"/>
              </a:lnSpc>
            </a:pPr>
            <a:r>
              <a:rPr lang="en-US" b="true" sz="1598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Limitations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55853" y="1413605"/>
            <a:ext cx="46806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7320" y="1413605"/>
            <a:ext cx="1458573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Prototype</a:t>
            </a:r>
            <a:r>
              <a:rPr lang="en-US" b="true" sz="1598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  <a:r>
              <a:rPr lang="en-US" b="true" sz="1598">
                <a:solidFill>
                  <a:srgbClr val="2DD4BF"/>
                </a:solidFill>
                <a:latin typeface="Carlito Bold"/>
                <a:ea typeface="Carlito Bold"/>
                <a:cs typeface="Carlito Bold"/>
                <a:sym typeface="Carlito Bold"/>
              </a:rPr>
              <a:t>design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15400" y="1413605"/>
            <a:ext cx="2418255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A78BFA"/>
                </a:solidFill>
                <a:latin typeface="Carlito Bold"/>
                <a:ea typeface="Carlito Bold"/>
                <a:cs typeface="Carlito Bold"/>
                <a:sym typeface="Carlito Bold"/>
              </a:rPr>
              <a:t>Needed for real deployment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7240" y="2047742"/>
            <a:ext cx="59836" cy="56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61"/>
              </a:lnSpc>
            </a:pPr>
            <a:r>
              <a:rPr lang="en-US" sz="1301" spc="-2">
                <a:solidFill>
                  <a:srgbClr val="E8EEF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 •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7240" y="2893485"/>
            <a:ext cx="59836" cy="214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 spc="-2">
                <a:solidFill>
                  <a:srgbClr val="E8EEF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26280" y="2095367"/>
            <a:ext cx="59836" cy="214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 spc="-2">
                <a:solidFill>
                  <a:srgbClr val="E8EEF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26280" y="2593610"/>
            <a:ext cx="59836" cy="214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1" spc="-2">
                <a:solidFill>
                  <a:srgbClr val="E8EEF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26280" y="3044219"/>
            <a:ext cx="59836" cy="56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61"/>
              </a:lnSpc>
            </a:pPr>
            <a:r>
              <a:rPr lang="en-US" sz="1301" spc="-2">
                <a:solidFill>
                  <a:srgbClr val="E8EEF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 •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75320" y="2047742"/>
            <a:ext cx="59836" cy="1462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61"/>
              </a:lnSpc>
            </a:pPr>
            <a:r>
              <a:rPr lang="en-US" sz="1301" spc="-2">
                <a:solidFill>
                  <a:srgbClr val="E8EEF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 • • • •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5081" y="2081632"/>
            <a:ext cx="3033131" cy="122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Synthetic demonstration data only</a:t>
            </a:r>
          </a:p>
          <a:p>
            <a:pPr algn="l">
              <a:lnSpc>
                <a:spcPts val="1561"/>
              </a:lnSpc>
              <a:spcBef>
                <a:spcPts val="798"/>
              </a:spcBef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Core rule-based scanner needs no external LLM API</a:t>
            </a:r>
          </a:p>
          <a:p>
            <a:pPr algn="l">
              <a:lnSpc>
                <a:spcPts val="1561"/>
              </a:lnSpc>
              <a:spcBef>
                <a:spcPts val="798"/>
              </a:spcBef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Sample values should be masked or omitted from reports where appropriate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704121" y="2081632"/>
            <a:ext cx="2975143" cy="1524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Detection depends on configured rules and data quality</a:t>
            </a:r>
          </a:p>
          <a:p>
            <a:pPr algn="l">
              <a:lnSpc>
                <a:spcPts val="1561"/>
              </a:lnSpc>
              <a:spcBef>
                <a:spcPts val="798"/>
              </a:spcBef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Unknown formats, ambiguous fields and unseen patterns may be missed</a:t>
            </a:r>
          </a:p>
          <a:p>
            <a:pPr algn="l">
              <a:lnSpc>
                <a:spcPts val="2361"/>
              </a:lnSpc>
              <a:spcBef>
                <a:spcPts val="798"/>
              </a:spcBef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Declared metadata is not verified</a:t>
            </a:r>
          </a:p>
          <a:p>
            <a:pPr algn="l">
              <a:lnSpc>
                <a:spcPts val="23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Human review remains necessary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53161" y="2005432"/>
            <a:ext cx="1894780" cy="150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Access control</a:t>
            </a:r>
          </a:p>
          <a:p>
            <a:pPr algn="l">
              <a:lnSpc>
                <a:spcPts val="23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Audit logging</a:t>
            </a:r>
          </a:p>
          <a:p>
            <a:pPr algn="l">
              <a:lnSpc>
                <a:spcPts val="23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Secure storage Sensitive-output handling Appropriate security testing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292125" y="5691426"/>
            <a:ext cx="7745520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Not claimed: production security, legal compliance, or guaranteed detection of all personal data.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8488" y="5187648"/>
            <a:ext cx="7454798" cy="688238"/>
          </a:xfrm>
          <a:custGeom>
            <a:avLst/>
            <a:gdLst/>
            <a:ahLst/>
            <a:cxnLst/>
            <a:rect r="r" b="b" t="t" l="l"/>
            <a:pathLst>
              <a:path h="688238" w="7454798">
                <a:moveTo>
                  <a:pt x="0" y="0"/>
                </a:moveTo>
                <a:lnTo>
                  <a:pt x="7454799" y="0"/>
                </a:lnTo>
                <a:lnTo>
                  <a:pt x="7454799" y="688239"/>
                </a:lnTo>
                <a:lnTo>
                  <a:pt x="0" y="6882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82408" y="432768"/>
            <a:ext cx="2699918" cy="413918"/>
          </a:xfrm>
          <a:custGeom>
            <a:avLst/>
            <a:gdLst/>
            <a:ahLst/>
            <a:cxnLst/>
            <a:rect r="r" b="b" t="t" l="l"/>
            <a:pathLst>
              <a:path h="413918" w="2699918">
                <a:moveTo>
                  <a:pt x="0" y="0"/>
                </a:moveTo>
                <a:lnTo>
                  <a:pt x="2699919" y="0"/>
                </a:lnTo>
                <a:lnTo>
                  <a:pt x="2699919" y="413919"/>
                </a:lnTo>
                <a:lnTo>
                  <a:pt x="0" y="4139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2260" y="1122340"/>
            <a:ext cx="11224365" cy="3934358"/>
          </a:xfrm>
          <a:custGeom>
            <a:avLst/>
            <a:gdLst/>
            <a:ahLst/>
            <a:cxnLst/>
            <a:rect r="r" b="b" t="t" l="l"/>
            <a:pathLst>
              <a:path h="3934358" w="11224365">
                <a:moveTo>
                  <a:pt x="0" y="0"/>
                </a:moveTo>
                <a:lnTo>
                  <a:pt x="11224365" y="0"/>
                </a:lnTo>
                <a:lnTo>
                  <a:pt x="11224365" y="3934359"/>
                </a:lnTo>
                <a:lnTo>
                  <a:pt x="0" y="39343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84998" y="522923"/>
            <a:ext cx="1523400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FBBF24"/>
                </a:solidFill>
                <a:latin typeface="Carlito Bold"/>
                <a:ea typeface="Carlito Bold"/>
                <a:cs typeface="Carlito Bold"/>
                <a:sym typeface="Carlito Bold"/>
              </a:rPr>
              <a:t>VERIFY BEFORE PRESENTING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40439" y="6458626"/>
            <a:ext cx="131045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21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8640" y="305705"/>
            <a:ext cx="4916348" cy="60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Demonstration Walkthrough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4602" y="1136504"/>
            <a:ext cx="85287" cy="3713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2"/>
              </a:lnSpc>
            </a:pPr>
            <a:r>
              <a:rPr lang="en-US" b="true" sz="1301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# </a:t>
            </a: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1 2 3 4 5 6 7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3242" y="1136504"/>
            <a:ext cx="2553957" cy="3713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b="true" sz="1301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Action</a:t>
            </a:r>
          </a:p>
          <a:p>
            <a:pPr algn="l">
              <a:lnSpc>
                <a:spcPts val="3252"/>
              </a:lnSpc>
              <a:spcBef>
                <a:spcPts val="489"/>
              </a:spcBef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Show input CSVs and SQLite database Run the scanner (command below) Show candidate fields and evidence Show the metadata registry</a:t>
            </a:r>
          </a:p>
          <a:p>
            <a:pPr algn="l">
              <a:lnSpc>
                <a:spcPts val="3252"/>
              </a:lnSpc>
              <a:spcBef>
                <a:spcPts val="489"/>
              </a:spcBef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Open reports/evidence_inventory.csv Open reports/evidence_gaps.csv Show evaluation output (if verified)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45242" y="1136504"/>
            <a:ext cx="4356706" cy="3713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b="true" sz="1301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What to say</a:t>
            </a:r>
          </a:p>
          <a:p>
            <a:pPr algn="l">
              <a:lnSpc>
                <a:spcPts val="3252"/>
              </a:lnSpc>
              <a:spcBef>
                <a:spcPts val="489"/>
              </a:spcBef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All data here is synthetic.</a:t>
            </a:r>
          </a:p>
          <a:p>
            <a:pPr algn="l">
              <a:lnSpc>
                <a:spcPts val="3252"/>
              </a:lnSpc>
              <a:spcBef>
                <a:spcPts val="489"/>
              </a:spcBef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One command scans CSV and SQL sources.</a:t>
            </a:r>
          </a:p>
          <a:p>
            <a:pPr algn="l">
              <a:lnSpc>
                <a:spcPts val="3252"/>
              </a:lnSpc>
              <a:spcBef>
                <a:spcPts val="489"/>
              </a:spcBef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Each finding has a class, confidence and reason.</a:t>
            </a:r>
          </a:p>
          <a:p>
            <a:pPr algn="l">
              <a:lnSpc>
                <a:spcPts val="3252"/>
              </a:lnSpc>
              <a:spcBef>
                <a:spcPts val="489"/>
              </a:spcBef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This is what the organisation declared.</a:t>
            </a:r>
          </a:p>
          <a:p>
            <a:pPr algn="l">
              <a:lnSpc>
                <a:spcPts val="3252"/>
              </a:lnSpc>
              <a:spcBef>
                <a:spcPts val="489"/>
              </a:spcBef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Findings and declared metadata in one table.</a:t>
            </a:r>
          </a:p>
          <a:p>
            <a:pPr algn="l">
              <a:lnSpc>
                <a:spcPts val="3252"/>
              </a:lnSpc>
              <a:spcBef>
                <a:spcPts val="489"/>
              </a:spcBef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Blank purpose or retention is a technical gap, not a legal verdict. Ground truth vs predictions, per-class precision and recall.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6394" y="5388597"/>
            <a:ext cx="5036515" cy="32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70">
                <a:solidFill>
                  <a:srgbClr val="9FB0C8"/>
                </a:solidFill>
                <a:latin typeface="Montserrat"/>
                <a:ea typeface="Montserrat"/>
                <a:cs typeface="Montserrat"/>
                <a:sym typeface="Montserrat"/>
              </a:rPr>
              <a:t>$ </a:t>
            </a:r>
            <a:r>
              <a:rPr lang="en-US" b="true" sz="1800" spc="70">
                <a:solidFill>
                  <a:srgbClr val="22D3E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python </a:t>
            </a:r>
            <a:r>
              <a:rPr lang="en-US" sz="1800" spc="70">
                <a:solidFill>
                  <a:srgbClr val="2DD4BF"/>
                </a:solidFill>
                <a:latin typeface="Montserrat"/>
                <a:ea typeface="Montserrat"/>
                <a:cs typeface="Montserrat"/>
                <a:sym typeface="Montserrat"/>
              </a:rPr>
              <a:t>backend\scanner\run_scan.py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108" y="1120188"/>
            <a:ext cx="2239480" cy="4068280"/>
          </a:xfrm>
          <a:custGeom>
            <a:avLst/>
            <a:gdLst/>
            <a:ahLst/>
            <a:cxnLst/>
            <a:rect r="r" b="b" t="t" l="l"/>
            <a:pathLst>
              <a:path h="4068280" w="2239480">
                <a:moveTo>
                  <a:pt x="0" y="0"/>
                </a:moveTo>
                <a:lnTo>
                  <a:pt x="2239480" y="0"/>
                </a:lnTo>
                <a:lnTo>
                  <a:pt x="2239480" y="4068280"/>
                </a:lnTo>
                <a:lnTo>
                  <a:pt x="0" y="4068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82408" y="432768"/>
            <a:ext cx="2699918" cy="413918"/>
          </a:xfrm>
          <a:custGeom>
            <a:avLst/>
            <a:gdLst/>
            <a:ahLst/>
            <a:cxnLst/>
            <a:rect r="r" b="b" t="t" l="l"/>
            <a:pathLst>
              <a:path h="413918" w="2699918">
                <a:moveTo>
                  <a:pt x="0" y="0"/>
                </a:moveTo>
                <a:lnTo>
                  <a:pt x="2699919" y="0"/>
                </a:lnTo>
                <a:lnTo>
                  <a:pt x="2699919" y="413919"/>
                </a:lnTo>
                <a:lnTo>
                  <a:pt x="0" y="4139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20388" y="1120188"/>
            <a:ext cx="2239480" cy="4068280"/>
          </a:xfrm>
          <a:custGeom>
            <a:avLst/>
            <a:gdLst/>
            <a:ahLst/>
            <a:cxnLst/>
            <a:rect r="r" b="b" t="t" l="l"/>
            <a:pathLst>
              <a:path h="4068280" w="2239480">
                <a:moveTo>
                  <a:pt x="0" y="0"/>
                </a:moveTo>
                <a:lnTo>
                  <a:pt x="2239480" y="0"/>
                </a:lnTo>
                <a:lnTo>
                  <a:pt x="2239480" y="4068280"/>
                </a:lnTo>
                <a:lnTo>
                  <a:pt x="0" y="40682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60668" y="1120188"/>
            <a:ext cx="2239480" cy="4068280"/>
          </a:xfrm>
          <a:custGeom>
            <a:avLst/>
            <a:gdLst/>
            <a:ahLst/>
            <a:cxnLst/>
            <a:rect r="r" b="b" t="t" l="l"/>
            <a:pathLst>
              <a:path h="4068280" w="2239480">
                <a:moveTo>
                  <a:pt x="0" y="0"/>
                </a:moveTo>
                <a:lnTo>
                  <a:pt x="2239480" y="0"/>
                </a:lnTo>
                <a:lnTo>
                  <a:pt x="2239480" y="4068280"/>
                </a:lnTo>
                <a:lnTo>
                  <a:pt x="0" y="4068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00948" y="1120188"/>
            <a:ext cx="2239480" cy="4068280"/>
          </a:xfrm>
          <a:custGeom>
            <a:avLst/>
            <a:gdLst/>
            <a:ahLst/>
            <a:cxnLst/>
            <a:rect r="r" b="b" t="t" l="l"/>
            <a:pathLst>
              <a:path h="4068280" w="2239480">
                <a:moveTo>
                  <a:pt x="0" y="0"/>
                </a:moveTo>
                <a:lnTo>
                  <a:pt x="2239480" y="0"/>
                </a:lnTo>
                <a:lnTo>
                  <a:pt x="2239480" y="4068280"/>
                </a:lnTo>
                <a:lnTo>
                  <a:pt x="0" y="4068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41228" y="1120188"/>
            <a:ext cx="2239480" cy="4068280"/>
          </a:xfrm>
          <a:custGeom>
            <a:avLst/>
            <a:gdLst/>
            <a:ahLst/>
            <a:cxnLst/>
            <a:rect r="r" b="b" t="t" l="l"/>
            <a:pathLst>
              <a:path h="4068280" w="2239480">
                <a:moveTo>
                  <a:pt x="0" y="0"/>
                </a:moveTo>
                <a:lnTo>
                  <a:pt x="2239480" y="0"/>
                </a:lnTo>
                <a:lnTo>
                  <a:pt x="2239480" y="4068280"/>
                </a:lnTo>
                <a:lnTo>
                  <a:pt x="0" y="40682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433160" y="1542593"/>
            <a:ext cx="342719" cy="342719"/>
            <a:chOff x="0" y="0"/>
            <a:chExt cx="456959" cy="45695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456946" cy="456946"/>
            </a:xfrm>
            <a:custGeom>
              <a:avLst/>
              <a:gdLst/>
              <a:ahLst/>
              <a:cxnLst/>
              <a:rect r="r" b="b" t="t" l="l"/>
              <a:pathLst>
                <a:path h="456946" w="456946">
                  <a:moveTo>
                    <a:pt x="0" y="0"/>
                  </a:moveTo>
                  <a:lnTo>
                    <a:pt x="456946" y="0"/>
                  </a:lnTo>
                  <a:lnTo>
                    <a:pt x="456946" y="456946"/>
                  </a:lnTo>
                  <a:lnTo>
                    <a:pt x="0" y="456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2" b="-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73440" y="1542593"/>
            <a:ext cx="342719" cy="342719"/>
            <a:chOff x="0" y="0"/>
            <a:chExt cx="456959" cy="456959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456946" cy="456946"/>
            </a:xfrm>
            <a:custGeom>
              <a:avLst/>
              <a:gdLst/>
              <a:ahLst/>
              <a:cxnLst/>
              <a:rect r="r" b="b" t="t" l="l"/>
              <a:pathLst>
                <a:path h="456946" w="456946">
                  <a:moveTo>
                    <a:pt x="0" y="0"/>
                  </a:moveTo>
                  <a:lnTo>
                    <a:pt x="456946" y="0"/>
                  </a:lnTo>
                  <a:lnTo>
                    <a:pt x="456946" y="456946"/>
                  </a:lnTo>
                  <a:lnTo>
                    <a:pt x="0" y="456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-2" b="-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13720" y="1542593"/>
            <a:ext cx="342719" cy="342719"/>
            <a:chOff x="0" y="0"/>
            <a:chExt cx="456959" cy="456959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56946" cy="456946"/>
            </a:xfrm>
            <a:custGeom>
              <a:avLst/>
              <a:gdLst/>
              <a:ahLst/>
              <a:cxnLst/>
              <a:rect r="r" b="b" t="t" l="l"/>
              <a:pathLst>
                <a:path h="456946" w="456946">
                  <a:moveTo>
                    <a:pt x="0" y="0"/>
                  </a:moveTo>
                  <a:lnTo>
                    <a:pt x="456946" y="0"/>
                  </a:lnTo>
                  <a:lnTo>
                    <a:pt x="456946" y="456946"/>
                  </a:lnTo>
                  <a:lnTo>
                    <a:pt x="0" y="456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2" b="-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154000" y="1542593"/>
            <a:ext cx="342719" cy="342719"/>
            <a:chOff x="0" y="0"/>
            <a:chExt cx="456959" cy="456959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56946" cy="456946"/>
            </a:xfrm>
            <a:custGeom>
              <a:avLst/>
              <a:gdLst/>
              <a:ahLst/>
              <a:cxnLst/>
              <a:rect r="r" b="b" t="t" l="l"/>
              <a:pathLst>
                <a:path h="456946" w="456946">
                  <a:moveTo>
                    <a:pt x="0" y="0"/>
                  </a:moveTo>
                  <a:lnTo>
                    <a:pt x="456946" y="0"/>
                  </a:lnTo>
                  <a:lnTo>
                    <a:pt x="456946" y="456946"/>
                  </a:lnTo>
                  <a:lnTo>
                    <a:pt x="0" y="456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2" b="-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394280" y="1542593"/>
            <a:ext cx="342719" cy="342719"/>
            <a:chOff x="0" y="0"/>
            <a:chExt cx="456959" cy="456959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56946" cy="456946"/>
            </a:xfrm>
            <a:custGeom>
              <a:avLst/>
              <a:gdLst/>
              <a:ahLst/>
              <a:cxnLst/>
              <a:rect r="r" b="b" t="t" l="l"/>
              <a:pathLst>
                <a:path h="456946" w="456946">
                  <a:moveTo>
                    <a:pt x="0" y="0"/>
                  </a:moveTo>
                  <a:lnTo>
                    <a:pt x="456946" y="0"/>
                  </a:lnTo>
                  <a:lnTo>
                    <a:pt x="456946" y="456946"/>
                  </a:lnTo>
                  <a:lnTo>
                    <a:pt x="0" y="456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-2" b="-2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476869" y="5323189"/>
            <a:ext cx="11234433" cy="691477"/>
          </a:xfrm>
          <a:custGeom>
            <a:avLst/>
            <a:gdLst/>
            <a:ahLst/>
            <a:cxnLst/>
            <a:rect r="r" b="b" t="t" l="l"/>
            <a:pathLst>
              <a:path h="691477" w="11234433">
                <a:moveTo>
                  <a:pt x="0" y="0"/>
                </a:moveTo>
                <a:lnTo>
                  <a:pt x="11234433" y="0"/>
                </a:lnTo>
                <a:lnTo>
                  <a:pt x="11234433" y="691477"/>
                </a:lnTo>
                <a:lnTo>
                  <a:pt x="0" y="69147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21479" y="522923"/>
            <a:ext cx="2060267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A78BFA"/>
                </a:solidFill>
                <a:latin typeface="Carlito Bold"/>
                <a:ea typeface="Carlito Bold"/>
                <a:cs typeface="Carlito Bold"/>
                <a:sym typeface="Carlito Bold"/>
              </a:rPr>
              <a:t>INTENDED BENEFITS - NOT MEASURED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40439" y="6458626"/>
            <a:ext cx="131045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22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8640" y="305705"/>
            <a:ext cx="5097513" cy="60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Expected Impact and Benefits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9681" y="2175720"/>
            <a:ext cx="1324794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Faster first pass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59366" y="2175720"/>
            <a:ext cx="1386507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More consistent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86479" y="2175720"/>
            <a:ext cx="1005659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Visible gaps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35760" y="2175720"/>
            <a:ext cx="986600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Explainable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85041" y="2175720"/>
            <a:ext cx="968378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Repeatable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1168" y="2904592"/>
            <a:ext cx="1498864" cy="822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Quicker initial field discovery than purely manual inspection, subject to validation.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71448" y="2904592"/>
            <a:ext cx="1576902" cy="42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The same configurable rules apply every run.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211728" y="2904592"/>
            <a:ext cx="1766849" cy="62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Missing declared metadata is surfaced, not overlooked.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452008" y="2904592"/>
            <a:ext cx="1784890" cy="62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Each flag carries evidence privacy teams can inspect.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92288" y="2904592"/>
            <a:ext cx="1759601" cy="42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Technical evaluation can be re-run as rules change.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716998" y="5508546"/>
            <a:ext cx="4842339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These are intended benefits. None have been measured yet.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2260" y="1122340"/>
            <a:ext cx="6442129" cy="4156129"/>
          </a:xfrm>
          <a:custGeom>
            <a:avLst/>
            <a:gdLst/>
            <a:ahLst/>
            <a:cxnLst/>
            <a:rect r="r" b="b" t="t" l="l"/>
            <a:pathLst>
              <a:path h="4156129" w="6442129">
                <a:moveTo>
                  <a:pt x="0" y="0"/>
                </a:moveTo>
                <a:lnTo>
                  <a:pt x="6442129" y="0"/>
                </a:lnTo>
                <a:lnTo>
                  <a:pt x="6442129" y="4156129"/>
                </a:lnTo>
                <a:lnTo>
                  <a:pt x="0" y="4156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52342" y="4637742"/>
            <a:ext cx="2291677" cy="618401"/>
          </a:xfrm>
          <a:custGeom>
            <a:avLst/>
            <a:gdLst/>
            <a:ahLst/>
            <a:cxnLst/>
            <a:rect r="r" b="b" t="t" l="l"/>
            <a:pathLst>
              <a:path h="618401" w="2291677">
                <a:moveTo>
                  <a:pt x="0" y="0"/>
                </a:moveTo>
                <a:lnTo>
                  <a:pt x="2291676" y="0"/>
                </a:lnTo>
                <a:lnTo>
                  <a:pt x="2291676" y="618401"/>
                </a:lnTo>
                <a:lnTo>
                  <a:pt x="0" y="618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6869" y="5689302"/>
            <a:ext cx="11234433" cy="645757"/>
          </a:xfrm>
          <a:custGeom>
            <a:avLst/>
            <a:gdLst/>
            <a:ahLst/>
            <a:cxnLst/>
            <a:rect r="r" b="b" t="t" l="l"/>
            <a:pathLst>
              <a:path h="645757" w="11234433">
                <a:moveTo>
                  <a:pt x="0" y="0"/>
                </a:moveTo>
                <a:lnTo>
                  <a:pt x="11234433" y="0"/>
                </a:lnTo>
                <a:lnTo>
                  <a:pt x="11234433" y="645756"/>
                </a:lnTo>
                <a:lnTo>
                  <a:pt x="0" y="6457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52342" y="1528782"/>
            <a:ext cx="4577677" cy="618401"/>
          </a:xfrm>
          <a:custGeom>
            <a:avLst/>
            <a:gdLst/>
            <a:ahLst/>
            <a:cxnLst/>
            <a:rect r="r" b="b" t="t" l="l"/>
            <a:pathLst>
              <a:path h="618401" w="4577677">
                <a:moveTo>
                  <a:pt x="0" y="0"/>
                </a:moveTo>
                <a:lnTo>
                  <a:pt x="4577676" y="0"/>
                </a:lnTo>
                <a:lnTo>
                  <a:pt x="4577676" y="618401"/>
                </a:lnTo>
                <a:lnTo>
                  <a:pt x="0" y="6184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52342" y="2150497"/>
            <a:ext cx="4577677" cy="618401"/>
          </a:xfrm>
          <a:custGeom>
            <a:avLst/>
            <a:gdLst/>
            <a:ahLst/>
            <a:cxnLst/>
            <a:rect r="r" b="b" t="t" l="l"/>
            <a:pathLst>
              <a:path h="618401" w="4577677">
                <a:moveTo>
                  <a:pt x="0" y="0"/>
                </a:moveTo>
                <a:lnTo>
                  <a:pt x="4577676" y="0"/>
                </a:lnTo>
                <a:lnTo>
                  <a:pt x="4577676" y="618401"/>
                </a:lnTo>
                <a:lnTo>
                  <a:pt x="0" y="6184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52342" y="2772223"/>
            <a:ext cx="4577677" cy="618392"/>
          </a:xfrm>
          <a:custGeom>
            <a:avLst/>
            <a:gdLst/>
            <a:ahLst/>
            <a:cxnLst/>
            <a:rect r="r" b="b" t="t" l="l"/>
            <a:pathLst>
              <a:path h="618392" w="4577677">
                <a:moveTo>
                  <a:pt x="0" y="0"/>
                </a:moveTo>
                <a:lnTo>
                  <a:pt x="4577676" y="0"/>
                </a:lnTo>
                <a:lnTo>
                  <a:pt x="4577676" y="618391"/>
                </a:lnTo>
                <a:lnTo>
                  <a:pt x="0" y="6183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52342" y="3394300"/>
            <a:ext cx="4577677" cy="618401"/>
          </a:xfrm>
          <a:custGeom>
            <a:avLst/>
            <a:gdLst/>
            <a:ahLst/>
            <a:cxnLst/>
            <a:rect r="r" b="b" t="t" l="l"/>
            <a:pathLst>
              <a:path h="618401" w="4577677">
                <a:moveTo>
                  <a:pt x="0" y="0"/>
                </a:moveTo>
                <a:lnTo>
                  <a:pt x="4577676" y="0"/>
                </a:lnTo>
                <a:lnTo>
                  <a:pt x="4577676" y="618402"/>
                </a:lnTo>
                <a:lnTo>
                  <a:pt x="0" y="6184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152342" y="4016026"/>
            <a:ext cx="4577677" cy="618392"/>
          </a:xfrm>
          <a:custGeom>
            <a:avLst/>
            <a:gdLst/>
            <a:ahLst/>
            <a:cxnLst/>
            <a:rect r="r" b="b" t="t" l="l"/>
            <a:pathLst>
              <a:path h="618392" w="4577677">
                <a:moveTo>
                  <a:pt x="0" y="0"/>
                </a:moveTo>
                <a:lnTo>
                  <a:pt x="4577676" y="0"/>
                </a:lnTo>
                <a:lnTo>
                  <a:pt x="4577676" y="618391"/>
                </a:lnTo>
                <a:lnTo>
                  <a:pt x="0" y="6183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288" y="6465113"/>
            <a:ext cx="3288792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PS-019 | Personal-Data Discovery &amp; Privacy Evidence Inventory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40439" y="6458626"/>
            <a:ext cx="131045" cy="2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FB0C8"/>
                </a:solidFill>
                <a:latin typeface="Carlito"/>
                <a:ea typeface="Carlito"/>
                <a:cs typeface="Carlito"/>
                <a:sym typeface="Carlito"/>
              </a:rPr>
              <a:t>31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8640" y="305705"/>
            <a:ext cx="5061861" cy="60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Technical Summary and Stack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4602" y="1150534"/>
            <a:ext cx="707384" cy="3907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b="true" sz="1301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Area </a:t>
            </a: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Inputs Detection Evidence Metadata Outputs Evaluation Boundary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87642" y="1150534"/>
            <a:ext cx="3483988" cy="3907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b="true" sz="1301">
                <a:solidFill>
                  <a:srgbClr val="0B1220"/>
                </a:solidFill>
                <a:latin typeface="Carlito Bold"/>
                <a:ea typeface="Carlito Bold"/>
                <a:cs typeface="Carlito Bold"/>
                <a:sym typeface="Carlito Bold"/>
              </a:rPr>
              <a:t>Summary</a:t>
            </a:r>
          </a:p>
          <a:p>
            <a:pPr algn="l">
              <a:lnSpc>
                <a:spcPts val="3252"/>
              </a:lnSpc>
              <a:spcBef>
                <a:spcPts val="707"/>
              </a:spcBef>
            </a:pPr>
            <a:r>
              <a:rPr lang="en-US" sz="1301">
                <a:solidFill>
                  <a:srgbClr val="E8EEF8"/>
                </a:solidFill>
                <a:latin typeface="Carlito"/>
                <a:ea typeface="Carlito"/>
                <a:cs typeface="Carlito"/>
                <a:sym typeface="Carlito"/>
              </a:rPr>
              <a:t>Synthetic CSV files and a SQLite database Rule-based, JSON-configured, five classes Confidence level, explanation, review flag source_type + source_name + field_name mapping Evidence inventory and gap report (CSV / JSON) Ground-truth precision / recall per class (pending) Supports human review; no legal determination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23408" y="1124512"/>
            <a:ext cx="452914" cy="3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>
                <a:solidFill>
                  <a:srgbClr val="22D3EE"/>
                </a:solidFill>
                <a:latin typeface="Carlito Bold"/>
                <a:ea typeface="Carlito Bold"/>
                <a:cs typeface="Carlito Bold"/>
                <a:sym typeface="Carlito Bold"/>
              </a:rPr>
              <a:t>Stack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32671" y="1684239"/>
            <a:ext cx="540010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4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Python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38275" y="2305955"/>
            <a:ext cx="936908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SQLAlchemy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37287" y="2927680"/>
            <a:ext cx="734463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1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Python 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80845" y="3549748"/>
            <a:ext cx="646490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Pydantic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48000" y="4171483"/>
            <a:ext cx="915676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1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Git / GitHub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21641" y="4793199"/>
            <a:ext cx="1174709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1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HTML / CSS / JS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19395" y="1684239"/>
            <a:ext cx="539467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Pandas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46769" y="2305955"/>
            <a:ext cx="482870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SQLite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93194" y="2927680"/>
            <a:ext cx="388001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1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JSON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52875" y="3549748"/>
            <a:ext cx="469630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Pytest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10765" y="4171483"/>
            <a:ext cx="555793" cy="27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FastAPI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80281" y="5851617"/>
            <a:ext cx="6751368" cy="28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E8EEF8"/>
                </a:solidFill>
                <a:latin typeface="Carlito Bold"/>
                <a:ea typeface="Carlito Bold"/>
                <a:cs typeface="Carlito Bold"/>
                <a:sym typeface="Carlito Bold"/>
              </a:rPr>
              <a:t>Discover the data. Explain the evidence. Highlight the gaps. Keep humans in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DAHXwpFwFdo</dc:identifier>
  <dcterms:modified xsi:type="dcterms:W3CDTF">2011-08-01T06:04:30Z</dcterms:modified>
  <cp:revision>1</cp:revision>
  <dc:title>PS-019_Presentation.pdf</dc:title>
</cp:coreProperties>
</file>